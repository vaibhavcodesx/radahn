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48640" cy="54864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2C12E"/>
                </a:solidFill>
                <a:latin typeface="Georgia"/>
              </a:defRPr>
            </a:pPr>
            <a: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800" b="1">
                <a:solidFill>
                  <a:srgbClr val="EDE6D6"/>
                </a:solidFill>
                <a:latin typeface="Georgia"/>
              </a:defRPr>
            </a:pPr>
            <a:r>
              <a:t>Radahn — memory you can see</a:t>
            </a:r>
          </a:p>
          <a:p>
            <a:pPr>
              <a:spcBef>
                <a:spcPts val="1200"/>
              </a:spcBef>
              <a:defRPr sz="1800">
                <a:solidFill>
                  <a:srgbClr val="B8B1A2"/>
                </a:solidFill>
                <a:latin typeface="Segoe UI"/>
              </a:defRPr>
            </a:pPr>
            <a:r>
              <a:t>An AI agent whose memory you can inspect, steer and trust.</a:t>
            </a:r>
          </a:p>
          <a:p>
            <a:pPr>
              <a:spcBef>
                <a:spcPts val="1800"/>
              </a:spcBef>
              <a:defRPr sz="1400" b="1">
                <a:solidFill>
                  <a:srgbClr val="2E9E6B"/>
                </a:solidFill>
                <a:latin typeface="Consolas"/>
              </a:defRPr>
            </a:pPr>
            <a:r>
              <a:t>radahn-ai.vercel.app  (Try it as guest)</a:t>
            </a:r>
          </a:p>
          <a:p>
            <a:pPr>
              <a:spcBef>
                <a:spcPts val="1600"/>
              </a:spcBef>
              <a:defRPr sz="1100">
                <a:solidFill>
                  <a:srgbClr val="8A8477"/>
                </a:solidFill>
                <a:latin typeface="Consolas"/>
              </a:defRPr>
            </a:pPr>
            <a:r>
              <a:t>Submitted to UNCHARTED 2026 · Agentic Memory track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3931920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3931920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3931920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16736" y="3931920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931920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9344" y="3931920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55648" y="3931920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01952" y="3931920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3931920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02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Assistants remember you. Invisibly.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You can't see what they kept, why it shaped an answer, or fix one wrong fact without starting over.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011680"/>
            <a:ext cx="3413455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/>
          <a:lstStyle/>
          <a:p>
            <a:pPr algn="ctr">
              <a:defRPr sz="1800" b="1">
                <a:solidFill>
                  <a:srgbClr val="EDE6D6"/>
                </a:solidFill>
                <a:latin typeface="Georgia"/>
              </a:defRPr>
            </a:pPr>
            <a:r>
              <a:t>   Amnesia by default</a:t>
            </a:r>
          </a:p>
          <a:p>
            <a:pPr>
              <a:spcBef>
                <a:spcPts val="16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Standard assistants wipe context between tabs. You re-explain preferences, constraints, and project rules endlessly.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331720"/>
            <a:ext cx="128016" cy="128016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2011680"/>
            <a:ext cx="3413455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/>
          <a:lstStyle/>
          <a:p>
            <a:pPr algn="ctr">
              <a:defRPr sz="1800" b="1">
                <a:solidFill>
                  <a:srgbClr val="EDE6D6"/>
                </a:solidFill>
                <a:latin typeface="Georgia"/>
              </a:defRPr>
            </a:pPr>
            <a:r>
              <a:t>   Invisible black box</a:t>
            </a:r>
          </a:p>
          <a:p>
            <a:pPr>
              <a:spcBef>
                <a:spcPts val="16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When memory is added, facts sit hidden in prompt caches. You cannot inspect what was kept or why an answer 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331720"/>
            <a:ext cx="128016" cy="128016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011680"/>
            <a:ext cx="3413455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/>
          <a:lstStyle/>
          <a:p>
            <a:pPr algn="ctr">
              <a:defRPr sz="1800" b="1">
                <a:solidFill>
                  <a:srgbClr val="EDE6D6"/>
                </a:solidFill>
                <a:latin typeface="Georgia"/>
              </a:defRPr>
            </a:pPr>
            <a:r>
              <a:t>   Zero steerability</a:t>
            </a:r>
          </a:p>
          <a:p>
            <a:pPr>
              <a:spcBef>
                <a:spcPts val="16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No way to correct a stale assumption or delete a private belief without wiping everything and starting over.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331720"/>
            <a:ext cx="128016" cy="128016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03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Every answer shows its receipts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Citations per memory · the scores behind each pick · one click to answer again without memory.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6949440" cy="3909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279" y="1920240"/>
            <a:ext cx="347472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F2C12E"/>
                </a:solidFill>
                <a:latin typeface="Georgia"/>
              </a:defRPr>
            </a:pPr>
            <a:r>
              <a:t>Inline Citations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Every fact cites its underlying memory with a clickable token.</a:t>
            </a:r>
          </a:p>
          <a:p>
            <a:pPr>
              <a:spcBef>
                <a:spcPts val="2000"/>
              </a:spcBef>
              <a:defRPr sz="1600" b="1">
                <a:solidFill>
                  <a:srgbClr val="2E9E6B"/>
                </a:solidFill>
                <a:latin typeface="Georgia"/>
              </a:defRPr>
            </a:pPr>
            <a:r>
              <a:t>Live Score Trace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Inspect exact relevance, recency decay, and type boost in the Memory Lens.</a:t>
            </a:r>
          </a:p>
          <a:p>
            <a:pPr>
              <a:spcBef>
                <a:spcPts val="2000"/>
              </a:spcBef>
              <a:defRPr sz="1600" b="1">
                <a:solidFill>
                  <a:srgbClr val="6B4BC2"/>
                </a:solidFill>
                <a:latin typeface="Georgia"/>
              </a:defRPr>
            </a:pPr>
            <a:r>
              <a:t>Ghost Diff Proof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Click 'Without memory' to see the instant word-by-word diff proving memory altered the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04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The four things it does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Remembers · Recalls and explains · Corrects with history · Forgets for real.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011680"/>
            <a:ext cx="2514600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2400" b="1">
                <a:solidFill>
                  <a:srgbClr val="F2C12E"/>
                </a:solidFill>
                <a:latin typeface="Consolas"/>
              </a:defRPr>
            </a:pPr>
            <a:r>
              <a:t>01</a:t>
            </a:r>
          </a:p>
          <a:p>
            <a:pPr>
              <a:spcBef>
                <a:spcPts val="1200"/>
              </a:spcBef>
              <a:defRPr sz="1500" b="1">
                <a:solidFill>
                  <a:srgbClr val="EDE6D6"/>
                </a:solidFill>
                <a:latin typeface="Georgia"/>
              </a:defRPr>
            </a:pPr>
            <a:r>
              <a:t>REMEMBERS</a:t>
            </a:r>
          </a:p>
          <a:p>
            <a:pPr>
              <a:spcBef>
                <a:spcPts val="12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Atomic extraction from conversation stream, typed with Whitney blocks.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011680"/>
            <a:ext cx="2514600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2400" b="1">
                <a:solidFill>
                  <a:srgbClr val="2E9E6B"/>
                </a:solidFill>
                <a:latin typeface="Consolas"/>
              </a:defRPr>
            </a:pPr>
            <a:r>
              <a:t>02</a:t>
            </a:r>
          </a:p>
          <a:p>
            <a:pPr>
              <a:spcBef>
                <a:spcPts val="1200"/>
              </a:spcBef>
              <a:defRPr sz="1500" b="1">
                <a:solidFill>
                  <a:srgbClr val="EDE6D6"/>
                </a:solidFill>
                <a:latin typeface="Georgia"/>
              </a:defRPr>
            </a:pPr>
            <a:r>
              <a:t>RECALLS &amp; EXPLAINS</a:t>
            </a:r>
          </a:p>
          <a:p>
            <a:pPr>
              <a:spcBef>
                <a:spcPts val="12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Four-channel fusion re-ranked by score; top 8 injected with audit trace.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11680"/>
            <a:ext cx="2514600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2400" b="1">
                <a:solidFill>
                  <a:srgbClr val="F08A24"/>
                </a:solidFill>
                <a:latin typeface="Consolas"/>
              </a:defRPr>
            </a:pPr>
            <a:r>
              <a:t>03</a:t>
            </a:r>
          </a:p>
          <a:p>
            <a:pPr>
              <a:spcBef>
                <a:spcPts val="1200"/>
              </a:spcBef>
              <a:defRPr sz="1500" b="1">
                <a:solidFill>
                  <a:srgbClr val="EDE6D6"/>
                </a:solidFill>
                <a:latin typeface="Georgia"/>
              </a:defRPr>
            </a:pPr>
            <a:r>
              <a:t>CORRECTS WITH HISTORY</a:t>
            </a:r>
          </a:p>
          <a:p>
            <a:pPr>
              <a:spcBef>
                <a:spcPts val="12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Single source of truth in Atlas supersedes outdated records with full audit log.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011680"/>
            <a:ext cx="2514600" cy="411480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2400" b="1">
                <a:solidFill>
                  <a:srgbClr val="D8432F"/>
                </a:solidFill>
                <a:latin typeface="Consolas"/>
              </a:defRPr>
            </a:pPr>
            <a:r>
              <a:t>04</a:t>
            </a:r>
          </a:p>
          <a:p>
            <a:pPr>
              <a:spcBef>
                <a:spcPts val="1200"/>
              </a:spcBef>
              <a:defRPr sz="1500" b="1">
                <a:solidFill>
                  <a:srgbClr val="EDE6D6"/>
                </a:solidFill>
                <a:latin typeface="Georgia"/>
              </a:defRPr>
            </a:pPr>
            <a:r>
              <a:t>FORGETS FOR REAL</a:t>
            </a:r>
          </a:p>
          <a:p>
            <a:pPr>
              <a:spcBef>
                <a:spcPts val="12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Physical hard delete of statement and vector; only empty tombstone remains.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05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How a memory is written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Privacy pre-scan → extract → policy gate → reconcile (add · confirm · supersede · skip) → transaction → live event.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0728655" cy="100584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D8432F"/>
                </a:solidFill>
                <a:latin typeface="Georgia"/>
              </a:defRPr>
            </a:pPr>
            <a:r>
              <a:t>   1. Privacy Pre-Scan</a:t>
            </a:r>
          </a:p>
          <a:p>
            <a:pPr>
              <a:spcBef>
                <a:spcPts val="3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   Regex and Shannon entropy pre-scan blocks API keys, credentials, and cards before LLM or DB ingestion.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148840"/>
            <a:ext cx="128016" cy="128016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063240"/>
            <a:ext cx="10728655" cy="100584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F2C12E"/>
                </a:solidFill>
                <a:latin typeface="Georgia"/>
              </a:defRPr>
            </a:pPr>
            <a:r>
              <a:t>   2. Atomic Extraction</a:t>
            </a:r>
          </a:p>
          <a:p>
            <a:pPr>
              <a:spcBef>
                <a:spcPts val="3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   Gemini 3.5 Flash-Lite extracts concise candidate statements with Whitney block type classification.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3291840"/>
            <a:ext cx="128016" cy="128016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728655" cy="100584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F08A24"/>
                </a:solidFill>
                <a:latin typeface="Georgia"/>
              </a:defRPr>
            </a:pPr>
            <a:r>
              <a:t>   3. Reconcile Policy</a:t>
            </a:r>
          </a:p>
          <a:p>
            <a:pPr>
              <a:spcBef>
                <a:spcPts val="3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   ADD (new fact) · CONFIRM (log boost) · SUPERSEDE (points old to new) · SKIP (deduplicates).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4434840"/>
            <a:ext cx="128016" cy="128016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349240"/>
            <a:ext cx="10728655" cy="100584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2E9E6B"/>
                </a:solidFill>
                <a:latin typeface="Georgia"/>
              </a:defRPr>
            </a:pPr>
            <a:r>
              <a:t>   4. Atlas Transaction &amp; Event</a:t>
            </a:r>
          </a:p>
          <a:p>
            <a:pPr>
              <a:spcBef>
                <a:spcPts val="3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   Multi-document ACID transaction writes to memories and emits to memory_events via Change Streams.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5577840"/>
            <a:ext cx="128016" cy="128016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06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How a memory is found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4 searches (meaning · keywords · time · links) → fused → scored → top 8.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5303520" cy="43891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700" b="1">
                <a:solidFill>
                  <a:srgbClr val="F2C12E"/>
                </a:solidFill>
                <a:latin typeface="Georgia"/>
              </a:defRPr>
            </a:pPr>
            <a:r>
              <a:t>Multi-Channel Fused Scoring</a:t>
            </a:r>
          </a:p>
          <a:p>
            <a:pPr>
              <a:spcBef>
                <a:spcPts val="1000"/>
              </a:spcBef>
              <a:defRPr sz="1100" b="1">
                <a:solidFill>
                  <a:srgbClr val="2E9E6B"/>
                </a:solidFill>
                <a:latin typeface="Consolas"/>
              </a:defRPr>
            </a:pPr>
            <a:r>
              <a:t>0.55 · relevance + 0.15 · recency + 0.15 · importance + 0.10 · confidence</a:t>
            </a:r>
          </a:p>
          <a:p>
            <a:pPr>
              <a:spcBef>
                <a:spcPts val="800"/>
              </a:spcBef>
              <a:defRPr sz="1300" b="1">
                <a:solidFill>
                  <a:srgbClr val="EDE6D6"/>
                </a:solidFill>
                <a:latin typeface="Segoe UI"/>
              </a:defRPr>
            </a:pPr>
            <a:r>
              <a:t>1. Meaning</a:t>
            </a:r>
          </a:p>
          <a:p>
            <a:pPr>
              <a:defRPr sz="1100">
                <a:solidFill>
                  <a:srgbClr val="B8B1A2"/>
                </a:solidFill>
                <a:latin typeface="Segoe UI"/>
              </a:defRPr>
            </a:pPr>
            <a:r>
              <a:t>Atlas Vector Search with 768-d cosine similarity pre-filtered on ownerId, space, and active status.</a:t>
            </a:r>
          </a:p>
          <a:p>
            <a:pPr>
              <a:spcBef>
                <a:spcPts val="800"/>
              </a:spcBef>
              <a:defRPr sz="1300" b="1">
                <a:solidFill>
                  <a:srgbClr val="EDE6D6"/>
                </a:solidFill>
                <a:latin typeface="Segoe UI"/>
              </a:defRPr>
            </a:pPr>
            <a:r>
              <a:t>2. Keywords</a:t>
            </a:r>
          </a:p>
          <a:p>
            <a:pPr>
              <a:defRPr sz="1100">
                <a:solidFill>
                  <a:srgbClr val="B8B1A2"/>
                </a:solidFill>
                <a:latin typeface="Segoe UI"/>
              </a:defRPr>
            </a:pPr>
            <a:r>
              <a:t>Atlas Search full-text Lucene for exact tokens, codes, and acronyms.</a:t>
            </a:r>
          </a:p>
          <a:p>
            <a:pPr>
              <a:spcBef>
                <a:spcPts val="800"/>
              </a:spcBef>
              <a:defRPr sz="1300" b="1">
                <a:solidFill>
                  <a:srgbClr val="EDE6D6"/>
                </a:solidFill>
                <a:latin typeface="Segoe UI"/>
              </a:defRPr>
            </a:pPr>
            <a:r>
              <a:t>3. Time</a:t>
            </a:r>
          </a:p>
          <a:p>
            <a:pPr>
              <a:defRPr sz="1100">
                <a:solidFill>
                  <a:srgbClr val="B8B1A2"/>
                </a:solidFill>
                <a:latin typeface="Segoe UI"/>
              </a:defRPr>
            </a:pPr>
            <a:r>
              <a:t>Recency decay calibrated to memory type half-life and explicit time queries.</a:t>
            </a:r>
          </a:p>
          <a:p>
            <a:pPr>
              <a:spcBef>
                <a:spcPts val="800"/>
              </a:spcBef>
              <a:defRPr sz="1300" b="1">
                <a:solidFill>
                  <a:srgbClr val="EDE6D6"/>
                </a:solidFill>
                <a:latin typeface="Segoe UI"/>
              </a:defRPr>
            </a:pPr>
            <a:r>
              <a:t>4. Links</a:t>
            </a:r>
          </a:p>
          <a:p>
            <a:pPr>
              <a:defRPr sz="1100">
                <a:solidFill>
                  <a:srgbClr val="B8B1A2"/>
                </a:solidFill>
                <a:latin typeface="Segoe UI"/>
              </a:defRPr>
            </a:pPr>
            <a:r>
              <a:t>Graph-lite entity linking across shared subjects and referenced items.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2024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07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Hard cases, handled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Correction with history · contradictions put to you · expiry · hard forget · secrets blocked.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3413455" cy="43891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F2C12E"/>
                </a:solidFill>
                <a:latin typeface="Georgia"/>
              </a:defRPr>
            </a:pPr>
            <a:r>
              <a:t>Correction with History</a:t>
            </a:r>
          </a:p>
          <a:p>
            <a:pPr>
              <a:spcBef>
                <a:spcPts val="220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Supersedes old 9 PM belief; preserves history chain.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77440"/>
            <a:ext cx="3139135" cy="176576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389120" y="1920240"/>
            <a:ext cx="3413455" cy="43891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F2C12E"/>
                </a:solidFill>
                <a:latin typeface="Georgia"/>
              </a:defRPr>
            </a:pPr>
            <a:r>
              <a:t>Contradiction Card</a:t>
            </a:r>
          </a:p>
          <a:p>
            <a:pPr>
              <a:spcBef>
                <a:spcPts val="220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Review inbox asks 'Which is current?' when facts conflict.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377440"/>
            <a:ext cx="3139135" cy="1765763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20" y="1920240"/>
            <a:ext cx="3413455" cy="43891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F2C12E"/>
                </a:solidFill>
                <a:latin typeface="Georgia"/>
              </a:defRPr>
            </a:pPr>
            <a:r>
              <a:t>Credentials Blocked</a:t>
            </a:r>
          </a:p>
          <a:p>
            <a:pPr>
              <a:spcBef>
                <a:spcPts val="220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Shannon entropy gate blocks keys before storage.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377440"/>
            <a:ext cx="3139135" cy="17657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08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It learns how you like answers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Repeated feedback → a strategy with evidence → shorter, time-boxed plans.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6217920" cy="34975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1920240"/>
            <a:ext cx="42062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F2C12E"/>
                </a:solidFill>
                <a:latin typeface="Georgia"/>
              </a:defRPr>
            </a:pPr>
            <a:r>
              <a:t>Background Consolidation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Gathers feedback across conversations and clusters observations into high-level rules.</a:t>
            </a:r>
          </a:p>
          <a:p>
            <a:pPr>
              <a:spcBef>
                <a:spcPts val="1800"/>
              </a:spcBef>
              <a:defRPr sz="1600" b="1">
                <a:solidFill>
                  <a:srgbClr val="6B4BC2"/>
                </a:solidFill>
                <a:latin typeface="Georgia"/>
              </a:defRPr>
            </a:pPr>
            <a:r>
              <a:t>Visible Strategy Card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"When Aarav asks for a plan, give at most 5 bullets, each with a time box."</a:t>
            </a:r>
          </a:p>
          <a:p>
            <a:pPr>
              <a:spcBef>
                <a:spcPts val="1800"/>
              </a:spcBef>
              <a:defRPr sz="1600" b="1">
                <a:solidFill>
                  <a:srgbClr val="2E9E6B"/>
                </a:solidFill>
                <a:latin typeface="Georgia"/>
              </a:defRPr>
            </a:pPr>
            <a:r>
              <a:t>Learned Adaptation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Future replies respect the learned strategy without requiring prompt engineering.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09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Built on MongoDB Atlas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Vector Search with filters · Atlas Search · TTL · transactions · partial unique index · change streams · aggregations.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Vector Search with filters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768-d vector similarity pre-filtered by ownerId and spaceKey.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Atlas Search (Lucene)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Full-text lexical search capturing exact keywords and codes.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88036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TTL Indexes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Automatic physical expiration on purgeAt without custom cron jobs.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288036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Partial Unique Index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{ownerId, spaceKey, slotKey} guarantees 1 active truth in DB.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ACID Transactions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Multi-document updates across memories and memory_events.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84048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Change Streams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Watches memory_events to stream real-time SSE updates.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5120640" cy="86868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F2C12E"/>
                </a:solidFill>
                <a:latin typeface="Georgia"/>
              </a:defRPr>
            </a:pPr>
            <a:r>
              <a:t>Aggregation Pipelines</a:t>
            </a:r>
          </a:p>
          <a:p>
            <a:pPr>
              <a:spcBef>
                <a:spcPts val="200"/>
              </a:spcBef>
              <a:defRPr sz="1100">
                <a:solidFill>
                  <a:srgbClr val="B8B1A2"/>
                </a:solidFill>
                <a:latin typeface="Segoe UI"/>
              </a:defRPr>
            </a:pPr>
            <a:r>
              <a:t>Real-time analytics for memory distribution, recall rate, and counts.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06440"/>
            <a:ext cx="10728655" cy="59436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2E9E6B"/>
                </a:solidFill>
                <a:latin typeface="Consolas"/>
              </a:defRPr>
            </a:pPr>
            <a:r>
              <a:t>ARCHITECTURE: Next.js 16 (Vercel)  ──►  MongoDB Atlas (Storage, Vectors, Events)  ──►  Gemini 3.5/3.6 / Groq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A8477"/>
                </a:solidFill>
                <a:latin typeface="Consolas"/>
              </a:defRPr>
            </a:pPr>
            <a:r>
              <a:t>10</a:t>
            </a:r>
          </a:p>
          <a:p>
            <a:pPr>
              <a:spcBef>
                <a:spcPts val="300"/>
              </a:spcBef>
              <a:defRPr sz="2800" b="1">
                <a:solidFill>
                  <a:srgbClr val="EDE6D6"/>
                </a:solidFill>
                <a:latin typeface="Georgia"/>
              </a:defRPr>
            </a:pPr>
            <a:r>
              <a:t>Measured on production</a:t>
            </a:r>
          </a:p>
          <a:p>
            <a:pPr>
              <a:spcBef>
                <a:spcPts val="400"/>
              </a:spcBef>
              <a:defRPr sz="1300">
                <a:solidFill>
                  <a:srgbClr val="B8B1A2"/>
                </a:solidFill>
                <a:latin typeface="Segoe UI"/>
              </a:defRPr>
            </a:pPr>
            <a:r>
              <a:t>20/20 live memory tests · 31/31 rule checks · recall@5 1.0 · 0 secrets stored · recall ≈ 0.5 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64208"/>
            <a:ext cx="100584" cy="100584"/>
          </a:xfrm>
          <a:prstGeom prst="rect">
            <a:avLst/>
          </a:prstGeom>
          <a:solidFill>
            <a:srgbClr val="E7D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" y="1664208"/>
            <a:ext cx="100584" cy="100584"/>
          </a:xfrm>
          <a:prstGeom prst="rect">
            <a:avLst/>
          </a:prstGeom>
          <a:solidFill>
            <a:srgbClr val="F2C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664208"/>
            <a:ext cx="100584" cy="100584"/>
          </a:xfrm>
          <a:prstGeom prst="rect">
            <a:avLst/>
          </a:prstGeom>
          <a:solidFill>
            <a:srgbClr val="3A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664208"/>
            <a:ext cx="100584" cy="100584"/>
          </a:xfrm>
          <a:prstGeom prst="rect">
            <a:avLst/>
          </a:prstGeom>
          <a:solidFill>
            <a:srgbClr val="F08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16736" y="1664208"/>
            <a:ext cx="100584" cy="100584"/>
          </a:xfrm>
          <a:prstGeom prst="rect">
            <a:avLst/>
          </a:prstGeom>
          <a:solidFill>
            <a:srgbClr val="D84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664208"/>
            <a:ext cx="100584" cy="100584"/>
          </a:xfrm>
          <a:prstGeom prst="rect">
            <a:avLst/>
          </a:prstGeom>
          <a:solidFill>
            <a:srgbClr val="B2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09344" y="1664208"/>
            <a:ext cx="100584" cy="100584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648" y="1664208"/>
            <a:ext cx="100584" cy="100584"/>
          </a:xfrm>
          <a:prstGeom prst="rect">
            <a:avLst/>
          </a:prstGeom>
          <a:solidFill>
            <a:srgbClr val="74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1664208"/>
            <a:ext cx="100584" cy="100584"/>
          </a:xfrm>
          <a:prstGeom prst="rect">
            <a:avLst/>
          </a:prstGeom>
          <a:solidFill>
            <a:srgbClr val="6B4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8256" y="1664208"/>
            <a:ext cx="100584" cy="100584"/>
          </a:xfrm>
          <a:prstGeom prst="rect">
            <a:avLst/>
          </a:prstGeom>
          <a:solidFill>
            <a:srgbClr val="A7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01168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20 / 20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Live memory tests passed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01168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31 / 31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Rule &amp; security checks passed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01168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1.0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Recall@5 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0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Secrets stored or leaked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≈ 0.5 s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Recall latency (p50: 566 ms)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657600"/>
            <a:ext cx="3429000" cy="14173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800" b="1">
                <a:solidFill>
                  <a:srgbClr val="2E9E6B"/>
                </a:solidFill>
                <a:latin typeface="Consolas"/>
              </a:defRPr>
            </a:pPr>
            <a:r>
              <a:t>≈ 2.0 s</a:t>
            </a:r>
          </a:p>
          <a:p>
            <a:pPr>
              <a:spcBef>
                <a:spcPts val="400"/>
              </a:spcBef>
              <a:defRPr sz="1200">
                <a:solidFill>
                  <a:srgbClr val="B8B1A2"/>
                </a:solidFill>
                <a:latin typeface="Segoe UI"/>
              </a:defRPr>
            </a:pPr>
            <a:r>
              <a:t>First memory saved (p50: 1.96 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161512"/>
          </a:solidFill>
          <a:ln>
            <a:solidFill>
              <a:srgbClr val="2A2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pPr algn="ctr">
              <a:defRPr sz="1050">
                <a:solidFill>
                  <a:srgbClr val="8A8477"/>
                </a:solidFill>
                <a:latin typeface="Consolas"/>
              </a:defRPr>
            </a:pPr>
            <a:r>
              <a:t>LIMITATIONS: Free tiers; LLM extraction can err (everything is visible &amp; reversible).  NEXT: Dedicated search nodes, team memory.</a:t>
            </a:r>
          </a:p>
          <a:p>
            <a:pPr>
              <a:spcBef>
                <a:spcPts val="400"/>
              </a:spcBef>
              <a:defRPr sz="1100" b="1">
                <a:solidFill>
                  <a:srgbClr val="F2C12E"/>
                </a:solidFill>
                <a:latin typeface="Consolas"/>
              </a:defRPr>
            </a:pPr>
            <a:r>
              <a:t>TEAM: Vaibhav &amp; teammates  ·  Built with Claude Code, Codex, and Antigravity  ·  TRY IT: radahn-ai.vercel.app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