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09728" cy="2926080"/>
          </a:xfrm>
          <a:prstGeom prst="rect">
            <a:avLst/>
          </a:prstGeom>
          <a:solidFill>
            <a:srgbClr val="F2C1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10058400" cy="3200400"/>
          </a:xfrm>
          <a:prstGeom prst="rect">
            <a:avLst/>
          </a:prstGeom>
          <a:noFill/>
        </p:spPr>
        <p:txBody>
          <a:bodyPr wrap="square">
            <a:spAutoFit/>
          </a:bodyPr>
          <a:lstStyle/>
          <a:p>
            <a:pPr>
              <a:defRPr sz="1200" b="1">
                <a:solidFill>
                  <a:srgbClr val="F2C12E"/>
                </a:solidFill>
                <a:latin typeface="Consolas"/>
              </a:defRPr>
            </a:pPr>
            <a:r>
              <a:t>UNCHARTED 2026 · MONGODB STUDENT HACKATHON · TRACK 1: AGENTIC MEMORY</a:t>
            </a:r>
          </a:p>
          <a:p>
            <a:pPr>
              <a:spcBef>
                <a:spcPts val="1000"/>
              </a:spcBef>
              <a:defRPr sz="5600" b="1">
                <a:solidFill>
                  <a:srgbClr val="EDE6D6"/>
                </a:solidFill>
                <a:latin typeface="Georgia"/>
              </a:defRPr>
            </a:pPr>
            <a:r>
              <a:t>Radahn</a:t>
            </a:r>
          </a:p>
          <a:p>
            <a:pPr>
              <a:spcBef>
                <a:spcPts val="800"/>
              </a:spcBef>
              <a:defRPr sz="2200">
                <a:solidFill>
                  <a:srgbClr val="B8B1A2"/>
                </a:solidFill>
                <a:latin typeface="Georgia"/>
              </a:defRPr>
            </a:pPr>
            <a:r>
              <a:t>A personal AI agent whose memory you can see, steer, and trust.</a:t>
            </a:r>
          </a:p>
        </p:txBody>
      </p:sp>
      <p:sp>
        <p:nvSpPr>
          <p:cNvPr id="5" name="Rounded Rectangle 4"/>
          <p:cNvSpPr/>
          <p:nvPr/>
        </p:nvSpPr>
        <p:spPr>
          <a:xfrm>
            <a:off x="731520" y="4389120"/>
            <a:ext cx="3291840" cy="182880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480560"/>
            <a:ext cx="2926080" cy="1645920"/>
          </a:xfrm>
          <a:prstGeom prst="rect">
            <a:avLst/>
          </a:prstGeom>
          <a:noFill/>
        </p:spPr>
        <p:txBody>
          <a:bodyPr wrap="square">
            <a:spAutoFit/>
          </a:bodyPr>
          <a:lstStyle/>
          <a:p>
            <a:pPr>
              <a:defRPr sz="1100">
                <a:solidFill>
                  <a:srgbClr val="F2C12E"/>
                </a:solidFill>
                <a:latin typeface="Consolas"/>
              </a:defRPr>
            </a:pPr>
            <a:r>
              <a:t>LIVE DEPLOYMENT</a:t>
            </a:r>
          </a:p>
          <a:p>
            <a:pPr>
              <a:defRPr sz="1600" b="1">
                <a:solidFill>
                  <a:srgbClr val="EDE6D6"/>
                </a:solidFill>
                <a:latin typeface="Georgia"/>
              </a:defRPr>
            </a:pPr>
            <a:r>
              <a:t>radahn-ai.vercel.app</a:t>
            </a:r>
          </a:p>
          <a:p>
            <a:pPr>
              <a:defRPr sz="1200">
                <a:solidFill>
                  <a:srgbClr val="B8B1A2"/>
                </a:solidFill>
                <a:latin typeface="Segoe UI"/>
              </a:defRPr>
            </a:pPr>
            <a:r>
              <a:t>Hosted on Vercel (Mumbai) + MongoDB Atlas M0. Live for judging.</a:t>
            </a:r>
          </a:p>
        </p:txBody>
      </p:sp>
      <p:sp>
        <p:nvSpPr>
          <p:cNvPr id="7" name="Rounded Rectangle 6"/>
          <p:cNvSpPr/>
          <p:nvPr/>
        </p:nvSpPr>
        <p:spPr>
          <a:xfrm>
            <a:off x="4389120" y="4389120"/>
            <a:ext cx="3291840" cy="182880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4480560"/>
            <a:ext cx="2926080" cy="1645920"/>
          </a:xfrm>
          <a:prstGeom prst="rect">
            <a:avLst/>
          </a:prstGeom>
          <a:noFill/>
        </p:spPr>
        <p:txBody>
          <a:bodyPr wrap="square">
            <a:spAutoFit/>
          </a:bodyPr>
          <a:lstStyle/>
          <a:p>
            <a:pPr>
              <a:defRPr sz="1100">
                <a:solidFill>
                  <a:srgbClr val="F2C12E"/>
                </a:solidFill>
                <a:latin typeface="Consolas"/>
              </a:defRPr>
            </a:pPr>
            <a:r>
              <a:t>ZERO SIGN-UP TESTING</a:t>
            </a:r>
          </a:p>
          <a:p>
            <a:pPr>
              <a:defRPr sz="1600" b="1">
                <a:solidFill>
                  <a:srgbClr val="EDE6D6"/>
                </a:solidFill>
                <a:latin typeface="Georgia"/>
              </a:defRPr>
            </a:pPr>
            <a:r>
              <a:t>Enter as Guest</a:t>
            </a:r>
          </a:p>
          <a:p>
            <a:pPr>
              <a:defRPr sz="1200">
                <a:solidFill>
                  <a:srgbClr val="B8B1A2"/>
                </a:solidFill>
                <a:latin typeface="Segoe UI"/>
              </a:defRPr>
            </a:pPr>
            <a:r>
              <a:t>Click 'Enter as guest' then 'Load demo memories' to test Aarav's world.</a:t>
            </a:r>
          </a:p>
        </p:txBody>
      </p:sp>
      <p:sp>
        <p:nvSpPr>
          <p:cNvPr id="9" name="Rounded Rectangle 8"/>
          <p:cNvSpPr/>
          <p:nvPr/>
        </p:nvSpPr>
        <p:spPr>
          <a:xfrm>
            <a:off x="8046720" y="4389120"/>
            <a:ext cx="3413455" cy="182880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4480560"/>
            <a:ext cx="3017520" cy="1645920"/>
          </a:xfrm>
          <a:prstGeom prst="rect">
            <a:avLst/>
          </a:prstGeom>
          <a:noFill/>
        </p:spPr>
        <p:txBody>
          <a:bodyPr wrap="square">
            <a:spAutoFit/>
          </a:bodyPr>
          <a:lstStyle/>
          <a:p>
            <a:pPr>
              <a:defRPr sz="1100">
                <a:solidFill>
                  <a:srgbClr val="F2C12E"/>
                </a:solidFill>
                <a:latin typeface="Consolas"/>
              </a:defRPr>
            </a:pPr>
            <a:r>
              <a:t>PUBLIC REPOSITORY</a:t>
            </a:r>
          </a:p>
          <a:p>
            <a:pPr>
              <a:defRPr sz="1400" b="1">
                <a:solidFill>
                  <a:srgbClr val="EDE6D6"/>
                </a:solidFill>
                <a:latin typeface="Georgia"/>
              </a:defRPr>
            </a:pPr>
            <a:r>
              <a:t>github.com/vaibhavcodesx/radahn</a:t>
            </a:r>
          </a:p>
          <a:p>
            <a:pPr>
              <a:defRPr sz="1200">
                <a:solidFill>
                  <a:srgbClr val="B8B1A2"/>
                </a:solidFill>
                <a:latin typeface="Segoe UI"/>
              </a:defRPr>
            </a:pPr>
            <a:r>
              <a:t>Full source, design documentation, and production eval harness.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THE PROBLEM</a:t>
            </a:r>
          </a:p>
          <a:p>
            <a:pPr>
              <a:spcBef>
                <a:spcPts val="400"/>
              </a:spcBef>
              <a:defRPr sz="2600" b="1">
                <a:solidFill>
                  <a:srgbClr val="EDE6D6"/>
                </a:solidFill>
                <a:latin typeface="Georgia"/>
              </a:defRPr>
            </a:pPr>
            <a:r>
              <a:t>Most assistants forget you between tabs. The rest remember you in secret.</a:t>
            </a:r>
          </a:p>
        </p:txBody>
      </p:sp>
      <p:sp>
        <p:nvSpPr>
          <p:cNvPr id="4" name="Rounded Rectangle 3"/>
          <p:cNvSpPr/>
          <p:nvPr/>
        </p:nvSpPr>
        <p:spPr>
          <a:xfrm>
            <a:off x="731520" y="1828800"/>
            <a:ext cx="3413455"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057400"/>
            <a:ext cx="2956255" cy="3931920"/>
          </a:xfrm>
          <a:prstGeom prst="rect">
            <a:avLst/>
          </a:prstGeom>
          <a:noFill/>
        </p:spPr>
        <p:txBody>
          <a:bodyPr wrap="square">
            <a:spAutoFit/>
          </a:bodyPr>
          <a:lstStyle/>
          <a:p>
            <a:pPr>
              <a:defRPr sz="1100" b="1">
                <a:solidFill>
                  <a:srgbClr val="E2553A"/>
                </a:solidFill>
                <a:latin typeface="Consolas"/>
              </a:defRPr>
            </a:pPr>
            <a:r>
              <a:t>AMNESIA BY DEFAULT</a:t>
            </a:r>
          </a:p>
          <a:p>
            <a:pPr>
              <a:spcBef>
                <a:spcPts val="800"/>
              </a:spcBef>
              <a:defRPr sz="2000" b="1">
                <a:solidFill>
                  <a:srgbClr val="EDE6D6"/>
                </a:solidFill>
                <a:latin typeface="Georgia"/>
              </a:defRPr>
            </a:pPr>
            <a:r>
              <a:t>Every chat starts from zero</a:t>
            </a:r>
          </a:p>
          <a:p>
            <a:pPr>
              <a:spcBef>
                <a:spcPts val="1400"/>
              </a:spcBef>
              <a:defRPr sz="1350">
                <a:solidFill>
                  <a:srgbClr val="B8B1A2"/>
                </a:solidFill>
                <a:latin typeface="Segoe UI"/>
              </a:defRPr>
            </a:pPr>
            <a:r>
              <a:t>Standard AI agents reset state between conversations. Users waste time repeatedly explaining their tech stacks, hard deadlines, dietary preferences, and work styles over and over again.</a:t>
            </a:r>
          </a:p>
        </p:txBody>
      </p:sp>
      <p:sp>
        <p:nvSpPr>
          <p:cNvPr id="6" name="Rounded Rectangle 5"/>
          <p:cNvSpPr/>
          <p:nvPr/>
        </p:nvSpPr>
        <p:spPr>
          <a:xfrm>
            <a:off x="4389120" y="1828800"/>
            <a:ext cx="3413455"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2057400"/>
            <a:ext cx="2956255" cy="3931920"/>
          </a:xfrm>
          <a:prstGeom prst="rect">
            <a:avLst/>
          </a:prstGeom>
          <a:noFill/>
        </p:spPr>
        <p:txBody>
          <a:bodyPr wrap="square">
            <a:spAutoFit/>
          </a:bodyPr>
          <a:lstStyle/>
          <a:p>
            <a:pPr>
              <a:defRPr sz="1100" b="1">
                <a:solidFill>
                  <a:srgbClr val="F08A24"/>
                </a:solidFill>
                <a:latin typeface="Consolas"/>
              </a:defRPr>
            </a:pPr>
            <a:r>
              <a:t>THE INVISIBLE BLACK BOX</a:t>
            </a:r>
          </a:p>
          <a:p>
            <a:pPr>
              <a:spcBef>
                <a:spcPts val="800"/>
              </a:spcBef>
              <a:defRPr sz="2000" b="1">
                <a:solidFill>
                  <a:srgbClr val="EDE6D6"/>
                </a:solidFill>
                <a:latin typeface="Georgia"/>
              </a:defRPr>
            </a:pPr>
            <a:r>
              <a:t>Unsteerable prompt dumps</a:t>
            </a:r>
          </a:p>
          <a:p>
            <a:pPr>
              <a:spcBef>
                <a:spcPts val="1400"/>
              </a:spcBef>
              <a:defRPr sz="1350">
                <a:solidFill>
                  <a:srgbClr val="B8B1A2"/>
                </a:solidFill>
                <a:latin typeface="Segoe UI"/>
              </a:defRPr>
            </a:pPr>
            <a:r>
              <a:t>When memory is added to agents, it is buried invisibly inside prompt context caches. Users cannot see what was stored, cannot inspect why an answer changed, and cannot delete incorrect beliefs.</a:t>
            </a:r>
          </a:p>
        </p:txBody>
      </p:sp>
      <p:sp>
        <p:nvSpPr>
          <p:cNvPr id="8" name="Rounded Rectangle 7"/>
          <p:cNvSpPr/>
          <p:nvPr/>
        </p:nvSpPr>
        <p:spPr>
          <a:xfrm>
            <a:off x="8046720" y="1828800"/>
            <a:ext cx="3413455"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2057400"/>
            <a:ext cx="2956255" cy="3931920"/>
          </a:xfrm>
          <a:prstGeom prst="rect">
            <a:avLst/>
          </a:prstGeom>
          <a:noFill/>
        </p:spPr>
        <p:txBody>
          <a:bodyPr wrap="square">
            <a:spAutoFit/>
          </a:bodyPr>
          <a:lstStyle/>
          <a:p>
            <a:pPr>
              <a:defRPr sz="1100" b="1">
                <a:solidFill>
                  <a:srgbClr val="F2C12E"/>
                </a:solidFill>
                <a:latin typeface="Consolas"/>
              </a:defRPr>
            </a:pPr>
            <a:r>
              <a:t>THE MISSING CONTRACT</a:t>
            </a:r>
          </a:p>
          <a:p>
            <a:pPr>
              <a:spcBef>
                <a:spcPts val="800"/>
              </a:spcBef>
              <a:defRPr sz="2000" b="1">
                <a:solidFill>
                  <a:srgbClr val="EDE6D6"/>
                </a:solidFill>
                <a:latin typeface="Georgia"/>
              </a:defRPr>
            </a:pPr>
            <a:r>
              <a:t>No auditability or control</a:t>
            </a:r>
          </a:p>
          <a:p>
            <a:pPr>
              <a:spcBef>
                <a:spcPts val="1400"/>
              </a:spcBef>
              <a:defRPr sz="1350">
                <a:solidFill>
                  <a:srgbClr val="B8B1A2"/>
                </a:solidFill>
                <a:latin typeface="Segoe UI"/>
              </a:defRPr>
            </a:pPr>
            <a:r>
              <a:t>Production workflows demand database-grade integrity: visible inline citations for every answer, inspectable score breakdowns, and total user control to correct, expire, or hard-forget.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PRODUCT OVERVIEW</a:t>
            </a:r>
          </a:p>
          <a:p>
            <a:pPr>
              <a:spcBef>
                <a:spcPts val="400"/>
              </a:spcBef>
              <a:defRPr sz="2600" b="1">
                <a:solidFill>
                  <a:srgbClr val="EDE6D6"/>
                </a:solidFill>
                <a:latin typeface="Georgia"/>
              </a:defRPr>
            </a:pPr>
            <a:r>
              <a:t>Radahn: Visible, Steerable Memory Built Natively on MongoDB Atlas</a:t>
            </a:r>
          </a:p>
        </p:txBody>
      </p:sp>
      <p:sp>
        <p:nvSpPr>
          <p:cNvPr id="4" name="Rounded Rectangle 3"/>
          <p:cNvSpPr/>
          <p:nvPr/>
        </p:nvSpPr>
        <p:spPr>
          <a:xfrm>
            <a:off x="731520" y="1828800"/>
            <a:ext cx="4754880" cy="132588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4389120" cy="1143000"/>
          </a:xfrm>
          <a:prstGeom prst="rect">
            <a:avLst/>
          </a:prstGeom>
          <a:noFill/>
        </p:spPr>
        <p:txBody>
          <a:bodyPr wrap="square">
            <a:spAutoFit/>
          </a:bodyPr>
          <a:lstStyle/>
          <a:p>
            <a:pPr>
              <a:defRPr sz="1500" b="1">
                <a:solidFill>
                  <a:srgbClr val="F2C12E"/>
                </a:solidFill>
                <a:latin typeface="Georgia"/>
              </a:defRPr>
            </a:pPr>
            <a:r>
              <a:t>VISIBLE · Every reply cites its sources</a:t>
            </a:r>
          </a:p>
          <a:p>
            <a:pPr>
              <a:spcBef>
                <a:spcPts val="400"/>
              </a:spcBef>
              <a:defRPr sz="1200">
                <a:solidFill>
                  <a:srgbClr val="B8B1A2"/>
                </a:solidFill>
                <a:latin typeface="Segoe UI"/>
              </a:defRPr>
            </a:pPr>
            <a:r>
              <a:t>Inline numbered citations link directly to the memories used. The Memory panel reveals multi-channel recall scores and plain-language reasons.</a:t>
            </a:r>
          </a:p>
        </p:txBody>
      </p:sp>
      <p:sp>
        <p:nvSpPr>
          <p:cNvPr id="6" name="Rounded Rectangle 5"/>
          <p:cNvSpPr/>
          <p:nvPr/>
        </p:nvSpPr>
        <p:spPr>
          <a:xfrm>
            <a:off x="731520" y="3291840"/>
            <a:ext cx="4754880" cy="132588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4389120" cy="1143000"/>
          </a:xfrm>
          <a:prstGeom prst="rect">
            <a:avLst/>
          </a:prstGeom>
          <a:noFill/>
        </p:spPr>
        <p:txBody>
          <a:bodyPr wrap="square">
            <a:spAutoFit/>
          </a:bodyPr>
          <a:lstStyle/>
          <a:p>
            <a:pPr>
              <a:defRPr sz="1500" b="1">
                <a:solidFill>
                  <a:srgbClr val="F2C12E"/>
                </a:solidFill>
                <a:latin typeface="Georgia"/>
              </a:defRPr>
            </a:pPr>
            <a:r>
              <a:t>STEERABLE · You hold the pen</a:t>
            </a:r>
          </a:p>
          <a:p>
            <a:pPr>
              <a:spcBef>
                <a:spcPts val="400"/>
              </a:spcBef>
              <a:defRPr sz="1200">
                <a:solidFill>
                  <a:srgbClr val="B8B1A2"/>
                </a:solidFill>
                <a:latin typeface="Segoe UI"/>
              </a:defRPr>
            </a:pPr>
            <a:r>
              <a:t>Review sensitive items in an inbox, correct stale facts with automatic history chains, set minute-level TTL expiry, or hard-forget on command.</a:t>
            </a:r>
          </a:p>
        </p:txBody>
      </p:sp>
      <p:sp>
        <p:nvSpPr>
          <p:cNvPr id="8" name="Rounded Rectangle 7"/>
          <p:cNvSpPr/>
          <p:nvPr/>
        </p:nvSpPr>
        <p:spPr>
          <a:xfrm>
            <a:off x="731520" y="4754880"/>
            <a:ext cx="4754880" cy="132588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846320"/>
            <a:ext cx="4389120" cy="1143000"/>
          </a:xfrm>
          <a:prstGeom prst="rect">
            <a:avLst/>
          </a:prstGeom>
          <a:noFill/>
        </p:spPr>
        <p:txBody>
          <a:bodyPr wrap="square">
            <a:spAutoFit/>
          </a:bodyPr>
          <a:lstStyle/>
          <a:p>
            <a:pPr>
              <a:defRPr sz="1500" b="1">
                <a:solidFill>
                  <a:srgbClr val="F2C12E"/>
                </a:solidFill>
                <a:latin typeface="Georgia"/>
              </a:defRPr>
            </a:pPr>
            <a:r>
              <a:t>TRUSTWORTHY · Secrets blocked at the gate</a:t>
            </a:r>
          </a:p>
          <a:p>
            <a:pPr>
              <a:spcBef>
                <a:spcPts val="400"/>
              </a:spcBef>
              <a:defRPr sz="1200">
                <a:solidFill>
                  <a:srgbClr val="B8B1A2"/>
                </a:solidFill>
                <a:latin typeface="Segoe UI"/>
              </a:defRPr>
            </a:pPr>
            <a:r>
              <a:t>API keys, card numbers, and passwords are intercepted before storage. Database-level partial unique index guarantees one active truth.</a:t>
            </a:r>
          </a:p>
        </p:txBody>
      </p:sp>
      <p:sp>
        <p:nvSpPr>
          <p:cNvPr id="10" name="Rounded Rectangle 9"/>
          <p:cNvSpPr/>
          <p:nvPr/>
        </p:nvSpPr>
        <p:spPr>
          <a:xfrm>
            <a:off x="5760720" y="1828800"/>
            <a:ext cx="5699455" cy="4389120"/>
          </a:xfrm>
          <a:prstGeom prst="roundRect">
            <a:avLst/>
          </a:prstGeom>
          <a:solidFill>
            <a:srgbClr val="0E0D0B"/>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5806440" y="1874519"/>
            <a:ext cx="5608015" cy="35050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JUDGE PATH</a:t>
            </a:r>
          </a:p>
          <a:p>
            <a:pPr>
              <a:spcBef>
                <a:spcPts val="400"/>
              </a:spcBef>
              <a:defRPr sz="2600" b="1">
                <a:solidFill>
                  <a:srgbClr val="EDE6D6"/>
                </a:solidFill>
                <a:latin typeface="Georgia"/>
              </a:defRPr>
            </a:pPr>
            <a:r>
              <a:t>The Four Beats: Tested with Aarav, a Student Racing the Deadline</a:t>
            </a:r>
          </a:p>
        </p:txBody>
      </p:sp>
      <p:sp>
        <p:nvSpPr>
          <p:cNvPr id="4" name="Rounded Rectangle 3"/>
          <p:cNvSpPr/>
          <p:nvPr/>
        </p:nvSpPr>
        <p:spPr>
          <a:xfrm>
            <a:off x="731520" y="1828800"/>
            <a:ext cx="256032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2011680"/>
            <a:ext cx="2231136" cy="4023360"/>
          </a:xfrm>
          <a:prstGeom prst="rect">
            <a:avLst/>
          </a:prstGeom>
          <a:noFill/>
        </p:spPr>
        <p:txBody>
          <a:bodyPr wrap="square">
            <a:spAutoFit/>
          </a:bodyPr>
          <a:lstStyle/>
          <a:p>
            <a:pPr>
              <a:defRPr sz="1100" b="1">
                <a:solidFill>
                  <a:srgbClr val="F2C12E"/>
                </a:solidFill>
                <a:latin typeface="Consolas"/>
              </a:defRPr>
            </a:pPr>
            <a:r>
              <a:t>BEAT 01</a:t>
            </a:r>
          </a:p>
          <a:p>
            <a:pPr>
              <a:spcBef>
                <a:spcPts val="600"/>
              </a:spcBef>
              <a:defRPr sz="1700" b="1">
                <a:solidFill>
                  <a:srgbClr val="EDE6D6"/>
                </a:solidFill>
                <a:latin typeface="Georgia"/>
              </a:defRPr>
            </a:pPr>
            <a:r>
              <a:t>Instant Entry &amp; Demo World</a:t>
            </a:r>
          </a:p>
          <a:p>
            <a:pPr>
              <a:spcBef>
                <a:spcPts val="1200"/>
              </a:spcBef>
              <a:defRPr sz="1200">
                <a:solidFill>
                  <a:srgbClr val="B8B1A2"/>
                </a:solidFill>
                <a:latin typeface="Segoe UI"/>
              </a:defRPr>
            </a:pPr>
            <a:r>
              <a:t>• One-click 'Enter as guest'</a:t>
            </a:r>
            <a:br/>
            <a:r>
              <a:t>• Click 'Load demo memories'</a:t>
            </a:r>
            <a:br/>
            <a:r>
              <a:t>• Seeds 38 typed memories (preferences, deadlines, tech stacks) across 3 spaces with 768-d embeddings.</a:t>
            </a:r>
          </a:p>
        </p:txBody>
      </p:sp>
      <p:sp>
        <p:nvSpPr>
          <p:cNvPr id="6" name="Rounded Rectangle 5"/>
          <p:cNvSpPr/>
          <p:nvPr/>
        </p:nvSpPr>
        <p:spPr>
          <a:xfrm>
            <a:off x="3474720" y="1828800"/>
            <a:ext cx="256032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2011680"/>
            <a:ext cx="2231136" cy="4023360"/>
          </a:xfrm>
          <a:prstGeom prst="rect">
            <a:avLst/>
          </a:prstGeom>
          <a:noFill/>
        </p:spPr>
        <p:txBody>
          <a:bodyPr wrap="square">
            <a:spAutoFit/>
          </a:bodyPr>
          <a:lstStyle/>
          <a:p>
            <a:pPr>
              <a:defRPr sz="1100" b="1">
                <a:solidFill>
                  <a:srgbClr val="4FB37E"/>
                </a:solidFill>
                <a:latin typeface="Consolas"/>
              </a:defRPr>
            </a:pPr>
            <a:r>
              <a:t>BEAT 02</a:t>
            </a:r>
          </a:p>
          <a:p>
            <a:pPr>
              <a:spcBef>
                <a:spcPts val="600"/>
              </a:spcBef>
              <a:defRPr sz="1700" b="1">
                <a:solidFill>
                  <a:srgbClr val="EDE6D6"/>
                </a:solidFill>
                <a:latin typeface="Georgia"/>
              </a:defRPr>
            </a:pPr>
            <a:r>
              <a:t>Recall &amp; The Ghost Diff</a:t>
            </a:r>
          </a:p>
          <a:p>
            <a:pPr>
              <a:spcBef>
                <a:spcPts val="1200"/>
              </a:spcBef>
              <a:defRPr sz="1200">
                <a:solidFill>
                  <a:srgbClr val="B8B1A2"/>
                </a:solidFill>
                <a:latin typeface="Segoe UI"/>
              </a:defRPr>
            </a:pPr>
            <a:r>
              <a:t>• Prompt: 'Plan my next 4 hours.'</a:t>
            </a:r>
            <a:br/>
            <a:r>
              <a:t>• Radahn cites 9 PM build window &amp; 30-min timeboxes.</a:t>
            </a:r>
            <a:br/>
            <a:r>
              <a:t>• Click 'Without memory' to see the exact word-level diff against a cold memory-free answer.</a:t>
            </a:r>
          </a:p>
        </p:txBody>
      </p:sp>
      <p:sp>
        <p:nvSpPr>
          <p:cNvPr id="8" name="Rounded Rectangle 7"/>
          <p:cNvSpPr/>
          <p:nvPr/>
        </p:nvSpPr>
        <p:spPr>
          <a:xfrm>
            <a:off x="6217920" y="1828800"/>
            <a:ext cx="256032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2011680"/>
            <a:ext cx="2231136" cy="4023360"/>
          </a:xfrm>
          <a:prstGeom prst="rect">
            <a:avLst/>
          </a:prstGeom>
          <a:noFill/>
        </p:spPr>
        <p:txBody>
          <a:bodyPr wrap="square">
            <a:spAutoFit/>
          </a:bodyPr>
          <a:lstStyle/>
          <a:p>
            <a:pPr>
              <a:defRPr sz="1100" b="1">
                <a:solidFill>
                  <a:srgbClr val="F08A24"/>
                </a:solidFill>
                <a:latin typeface="Consolas"/>
              </a:defRPr>
            </a:pPr>
            <a:r>
              <a:t>BEAT 03</a:t>
            </a:r>
          </a:p>
          <a:p>
            <a:pPr>
              <a:spcBef>
                <a:spcPts val="600"/>
              </a:spcBef>
              <a:defRPr sz="1700" b="1">
                <a:solidFill>
                  <a:srgbClr val="EDE6D6"/>
                </a:solidFill>
                <a:latin typeface="Georgia"/>
              </a:defRPr>
            </a:pPr>
            <a:r>
              <a:t>Difficult Cases Live</a:t>
            </a:r>
          </a:p>
          <a:p>
            <a:pPr>
              <a:spcBef>
                <a:spcPts val="1200"/>
              </a:spcBef>
              <a:defRPr sz="1200">
                <a:solidFill>
                  <a:srgbClr val="B8B1A2"/>
                </a:solidFill>
                <a:latin typeface="Segoe UI"/>
              </a:defRPr>
            </a:pPr>
            <a:r>
              <a:t>• Correction: 'Deadline moved to 10 PM' supersedes old record with history.</a:t>
            </a:r>
            <a:br/>
            <a:r>
              <a:t>• Privacy: sk-test_... is blocked.</a:t>
            </a:r>
            <a:br/>
            <a:r>
              <a:t>• Expiry: set 2m TTL and watch.</a:t>
            </a:r>
            <a:br/>
            <a:r>
              <a:t>• Forget: hard delete leaves tombstone.</a:t>
            </a:r>
          </a:p>
        </p:txBody>
      </p:sp>
      <p:sp>
        <p:nvSpPr>
          <p:cNvPr id="10" name="Rounded Rectangle 9"/>
          <p:cNvSpPr/>
          <p:nvPr/>
        </p:nvSpPr>
        <p:spPr>
          <a:xfrm>
            <a:off x="8961120" y="1828800"/>
            <a:ext cx="256032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25712" y="2011680"/>
            <a:ext cx="2231136" cy="4023360"/>
          </a:xfrm>
          <a:prstGeom prst="rect">
            <a:avLst/>
          </a:prstGeom>
          <a:noFill/>
        </p:spPr>
        <p:txBody>
          <a:bodyPr wrap="square">
            <a:spAutoFit/>
          </a:bodyPr>
          <a:lstStyle/>
          <a:p>
            <a:pPr>
              <a:defRPr sz="1100" b="1">
                <a:solidFill>
                  <a:srgbClr val="3A63D8"/>
                </a:solidFill>
                <a:latin typeface="Consolas"/>
              </a:defRPr>
            </a:pPr>
            <a:r>
              <a:t>BEAT 04</a:t>
            </a:r>
          </a:p>
          <a:p>
            <a:pPr>
              <a:spcBef>
                <a:spcPts val="600"/>
              </a:spcBef>
              <a:defRPr sz="1700" b="1">
                <a:solidFill>
                  <a:srgbClr val="EDE6D6"/>
                </a:solidFill>
                <a:latin typeface="Georgia"/>
              </a:defRPr>
            </a:pPr>
            <a:r>
              <a:t>Atlas &amp; Reflection</a:t>
            </a:r>
          </a:p>
          <a:p>
            <a:pPr>
              <a:spcBef>
                <a:spcPts val="1200"/>
              </a:spcBef>
              <a:defRPr sz="1200">
                <a:solidFill>
                  <a:srgbClr val="B8B1A2"/>
                </a:solidFill>
                <a:latin typeface="Segoe UI"/>
              </a:defRPr>
            </a:pPr>
            <a:r>
              <a:t>• Time-travel in Memory Atlas ('As of yesterday') to see past belief state.</a:t>
            </a:r>
            <a:br/>
            <a:r>
              <a:t>• Real-time SSE updates via change stream.</a:t>
            </a:r>
            <a:br/>
            <a:r>
              <a:t>• 'Reflect now' merges feedback into learned strategies.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DATA LAYER ARCHITECTURE</a:t>
            </a:r>
          </a:p>
          <a:p>
            <a:pPr>
              <a:spcBef>
                <a:spcPts val="400"/>
              </a:spcBef>
              <a:defRPr sz="2600" b="1">
                <a:solidFill>
                  <a:srgbClr val="EDE6D6"/>
                </a:solidFill>
                <a:latin typeface="Georgia"/>
              </a:defRPr>
            </a:pPr>
            <a:r>
              <a:t>The Write Path: Atomic Extraction, Privacy Gate &amp; Reconciliation</a:t>
            </a:r>
          </a:p>
        </p:txBody>
      </p:sp>
      <p:sp>
        <p:nvSpPr>
          <p:cNvPr id="4" name="Rounded Rectangle 3"/>
          <p:cNvSpPr/>
          <p:nvPr/>
        </p:nvSpPr>
        <p:spPr>
          <a:xfrm>
            <a:off x="731520" y="1828800"/>
            <a:ext cx="10728655" cy="100584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10362895" cy="822960"/>
          </a:xfrm>
          <a:prstGeom prst="rect">
            <a:avLst/>
          </a:prstGeom>
          <a:noFill/>
        </p:spPr>
        <p:txBody>
          <a:bodyPr wrap="square">
            <a:spAutoFit/>
          </a:bodyPr>
          <a:lstStyle/>
          <a:p>
            <a:pPr>
              <a:defRPr sz="1300" b="1">
                <a:solidFill>
                  <a:srgbClr val="E2553A"/>
                </a:solidFill>
                <a:latin typeface="Consolas"/>
              </a:defRPr>
            </a:pPr>
            <a:r>
              <a:t>01 PRE-SCAN GATE  ·  Zero-Leakage Privacy</a:t>
            </a:r>
          </a:p>
          <a:p>
            <a:pPr>
              <a:spcBef>
                <a:spcPts val="300"/>
              </a:spcBef>
              <a:defRPr sz="1200">
                <a:solidFill>
                  <a:srgbClr val="B8B1A2"/>
                </a:solidFill>
                <a:latin typeface="Segoe UI"/>
              </a:defRPr>
            </a:pPr>
            <a:r>
              <a:t>Every message passes through a deterministic regex &amp; entropy pre-scan before LLM or DB ingestion. API keys, passwords, and tokens are redacted immediately; personal/financial items are held for review.</a:t>
            </a:r>
          </a:p>
        </p:txBody>
      </p:sp>
      <p:sp>
        <p:nvSpPr>
          <p:cNvPr id="6" name="Rounded Rectangle 5"/>
          <p:cNvSpPr/>
          <p:nvPr/>
        </p:nvSpPr>
        <p:spPr>
          <a:xfrm>
            <a:off x="731520" y="2971800"/>
            <a:ext cx="10728655" cy="100584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063240"/>
            <a:ext cx="10362895" cy="822960"/>
          </a:xfrm>
          <a:prstGeom prst="rect">
            <a:avLst/>
          </a:prstGeom>
          <a:noFill/>
        </p:spPr>
        <p:txBody>
          <a:bodyPr wrap="square">
            <a:spAutoFit/>
          </a:bodyPr>
          <a:lstStyle/>
          <a:p>
            <a:pPr>
              <a:defRPr sz="1300" b="1">
                <a:solidFill>
                  <a:srgbClr val="3A63D8"/>
                </a:solidFill>
                <a:latin typeface="Consolas"/>
              </a:defRPr>
            </a:pPr>
            <a:r>
              <a:t>02 EXTRACTION  ·  Gemini 3.5 Flash-Lite</a:t>
            </a:r>
          </a:p>
          <a:p>
            <a:pPr>
              <a:spcBef>
                <a:spcPts val="300"/>
              </a:spcBef>
              <a:defRPr sz="1200">
                <a:solidFill>
                  <a:srgbClr val="B8B1A2"/>
                </a:solidFill>
                <a:latin typeface="Segoe UI"/>
              </a:defRPr>
            </a:pPr>
            <a:r>
              <a:t>Runs asynchronously after the reply streams. Extracts structured, atomic candidates classified into 10 memory types (preference, constraint, goal, fact, decision, outcome, feedback, strategy).</a:t>
            </a:r>
          </a:p>
        </p:txBody>
      </p:sp>
      <p:sp>
        <p:nvSpPr>
          <p:cNvPr id="8" name="Rounded Rectangle 7"/>
          <p:cNvSpPr/>
          <p:nvPr/>
        </p:nvSpPr>
        <p:spPr>
          <a:xfrm>
            <a:off x="731520" y="4114800"/>
            <a:ext cx="10728655" cy="100584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206240"/>
            <a:ext cx="10362895" cy="822960"/>
          </a:xfrm>
          <a:prstGeom prst="rect">
            <a:avLst/>
          </a:prstGeom>
          <a:noFill/>
        </p:spPr>
        <p:txBody>
          <a:bodyPr wrap="square">
            <a:spAutoFit/>
          </a:bodyPr>
          <a:lstStyle/>
          <a:p>
            <a:pPr>
              <a:defRPr sz="1300" b="1">
                <a:solidFill>
                  <a:srgbClr val="F2C12E"/>
                </a:solidFill>
                <a:latin typeface="Consolas"/>
              </a:defRPr>
            </a:pPr>
            <a:r>
              <a:t>03 RECONCILE  ·  Deterministic Logic</a:t>
            </a:r>
          </a:p>
          <a:p>
            <a:pPr>
              <a:spcBef>
                <a:spcPts val="300"/>
              </a:spcBef>
              <a:defRPr sz="1200">
                <a:solidFill>
                  <a:srgbClr val="B8B1A2"/>
                </a:solidFill>
                <a:latin typeface="Segoe UI"/>
              </a:defRPr>
            </a:pPr>
            <a:r>
              <a:t>Thresholds determine operation: ADD new unit, CONFIRM existing (bumps confidence logarithmically), SUPERSEDE conflicting statement with history link, or SKIP duplicate content.</a:t>
            </a:r>
          </a:p>
        </p:txBody>
      </p:sp>
      <p:sp>
        <p:nvSpPr>
          <p:cNvPr id="10" name="Rounded Rectangle 9"/>
          <p:cNvSpPr/>
          <p:nvPr/>
        </p:nvSpPr>
        <p:spPr>
          <a:xfrm>
            <a:off x="731520" y="5257800"/>
            <a:ext cx="10728655" cy="100584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349240"/>
            <a:ext cx="10362895" cy="822960"/>
          </a:xfrm>
          <a:prstGeom prst="rect">
            <a:avLst/>
          </a:prstGeom>
          <a:noFill/>
        </p:spPr>
        <p:txBody>
          <a:bodyPr wrap="square">
            <a:spAutoFit/>
          </a:bodyPr>
          <a:lstStyle/>
          <a:p>
            <a:pPr>
              <a:defRPr sz="1300" b="1">
                <a:solidFill>
                  <a:srgbClr val="4FB37E"/>
                </a:solidFill>
                <a:latin typeface="Consolas"/>
              </a:defRPr>
            </a:pPr>
            <a:r>
              <a:t>04 TRANSACTION  ·  MongoDB Atlas Commit</a:t>
            </a:r>
          </a:p>
          <a:p>
            <a:pPr>
              <a:spcBef>
                <a:spcPts val="300"/>
              </a:spcBef>
              <a:defRPr sz="1200">
                <a:solidFill>
                  <a:srgbClr val="B8B1A2"/>
                </a:solidFill>
                <a:latin typeface="Segoe UI"/>
              </a:defRPr>
            </a:pPr>
            <a:r>
              <a:t>Multi-document transaction writes to 'memories' collection and publishes an immutable event to 'memory_events'. Change stream immediately broadcasts write chips to the client UI.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RECALL &amp; SCORING</a:t>
            </a:r>
          </a:p>
          <a:p>
            <a:pPr>
              <a:spcBef>
                <a:spcPts val="400"/>
              </a:spcBef>
              <a:defRPr sz="2600" b="1">
                <a:solidFill>
                  <a:srgbClr val="EDE6D6"/>
                </a:solidFill>
                <a:latin typeface="Georgia"/>
              </a:defRPr>
            </a:pPr>
            <a:r>
              <a:t>Four Parallel Channels Fused by Reciprocal Rank, Re-Scored &amp; Budgeted</a:t>
            </a:r>
          </a:p>
        </p:txBody>
      </p:sp>
      <p:sp>
        <p:nvSpPr>
          <p:cNvPr id="4" name="Rounded Rectangle 3"/>
          <p:cNvSpPr/>
          <p:nvPr/>
        </p:nvSpPr>
        <p:spPr>
          <a:xfrm>
            <a:off x="731520" y="1828800"/>
            <a:ext cx="5242255" cy="12801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38528"/>
            <a:ext cx="4876495" cy="1060704"/>
          </a:xfrm>
          <a:prstGeom prst="rect">
            <a:avLst/>
          </a:prstGeom>
          <a:noFill/>
        </p:spPr>
        <p:txBody>
          <a:bodyPr wrap="square">
            <a:spAutoFit/>
          </a:bodyPr>
          <a:lstStyle/>
          <a:p>
            <a:pPr>
              <a:defRPr sz="1200" b="1">
                <a:solidFill>
                  <a:srgbClr val="F2C12E"/>
                </a:solidFill>
                <a:latin typeface="Consolas"/>
              </a:defRPr>
            </a:pPr>
            <a:r>
              <a:t>CHANNEL 1: VECTOR SEARCH</a:t>
            </a:r>
          </a:p>
          <a:p>
            <a:pPr>
              <a:spcBef>
                <a:spcPts val="400"/>
              </a:spcBef>
              <a:defRPr sz="1250">
                <a:solidFill>
                  <a:srgbClr val="B8B1A2"/>
                </a:solidFill>
                <a:latin typeface="Segoe UI"/>
              </a:defRPr>
            </a:pPr>
            <a:r>
              <a:t>768-d cosine similarity on gemini-embedding-2 pre-filtered on ownerId, spaceKey, and active status.</a:t>
            </a:r>
          </a:p>
        </p:txBody>
      </p:sp>
      <p:sp>
        <p:nvSpPr>
          <p:cNvPr id="6" name="Rounded Rectangle 5"/>
          <p:cNvSpPr/>
          <p:nvPr/>
        </p:nvSpPr>
        <p:spPr>
          <a:xfrm>
            <a:off x="6217920" y="1828800"/>
            <a:ext cx="5242255" cy="12801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938528"/>
            <a:ext cx="4876495" cy="1060704"/>
          </a:xfrm>
          <a:prstGeom prst="rect">
            <a:avLst/>
          </a:prstGeom>
          <a:noFill/>
        </p:spPr>
        <p:txBody>
          <a:bodyPr wrap="square">
            <a:spAutoFit/>
          </a:bodyPr>
          <a:lstStyle/>
          <a:p>
            <a:pPr>
              <a:defRPr sz="1200" b="1">
                <a:solidFill>
                  <a:srgbClr val="F2C12E"/>
                </a:solidFill>
                <a:latin typeface="Consolas"/>
              </a:defRPr>
            </a:pPr>
            <a:r>
              <a:t>CHANNEL 2: ATLAS SEARCH</a:t>
            </a:r>
          </a:p>
          <a:p>
            <a:pPr>
              <a:spcBef>
                <a:spcPts val="400"/>
              </a:spcBef>
              <a:defRPr sz="1250">
                <a:solidFill>
                  <a:srgbClr val="B8B1A2"/>
                </a:solidFill>
                <a:latin typeface="Segoe UI"/>
              </a:defRPr>
            </a:pPr>
            <a:r>
              <a:t>Full-text Lucene search capturing exact codes, acronyms, and tokens ('M0', 'SVNIT') that embeddings blur.</a:t>
            </a:r>
          </a:p>
        </p:txBody>
      </p:sp>
      <p:sp>
        <p:nvSpPr>
          <p:cNvPr id="8" name="Rounded Rectangle 7"/>
          <p:cNvSpPr/>
          <p:nvPr/>
        </p:nvSpPr>
        <p:spPr>
          <a:xfrm>
            <a:off x="731520" y="3246120"/>
            <a:ext cx="5242255" cy="12801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55848"/>
            <a:ext cx="4876495" cy="1060704"/>
          </a:xfrm>
          <a:prstGeom prst="rect">
            <a:avLst/>
          </a:prstGeom>
          <a:noFill/>
        </p:spPr>
        <p:txBody>
          <a:bodyPr wrap="square">
            <a:spAutoFit/>
          </a:bodyPr>
          <a:lstStyle/>
          <a:p>
            <a:pPr>
              <a:defRPr sz="1200" b="1">
                <a:solidFill>
                  <a:srgbClr val="F2C12E"/>
                </a:solidFill>
                <a:latin typeface="Consolas"/>
              </a:defRPr>
            </a:pPr>
            <a:r>
              <a:t>CHANNEL 3: TEMPORAL WINDOW</a:t>
            </a:r>
          </a:p>
          <a:p>
            <a:pPr>
              <a:spcBef>
                <a:spcPts val="400"/>
              </a:spcBef>
              <a:defRPr sz="1250">
                <a:solidFill>
                  <a:srgbClr val="B8B1A2"/>
                </a:solidFill>
                <a:latin typeface="Segoe UI"/>
              </a:defRPr>
            </a:pPr>
            <a:r>
              <a:t>Recency scoring based on memory type half-life plus explicit temporal query windows ('yesterday', 'this week').</a:t>
            </a:r>
          </a:p>
        </p:txBody>
      </p:sp>
      <p:sp>
        <p:nvSpPr>
          <p:cNvPr id="10" name="Rounded Rectangle 9"/>
          <p:cNvSpPr/>
          <p:nvPr/>
        </p:nvSpPr>
        <p:spPr>
          <a:xfrm>
            <a:off x="6217920" y="3246120"/>
            <a:ext cx="5242255" cy="12801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355848"/>
            <a:ext cx="4876495" cy="1060704"/>
          </a:xfrm>
          <a:prstGeom prst="rect">
            <a:avLst/>
          </a:prstGeom>
          <a:noFill/>
        </p:spPr>
        <p:txBody>
          <a:bodyPr wrap="square">
            <a:spAutoFit/>
          </a:bodyPr>
          <a:lstStyle/>
          <a:p>
            <a:pPr>
              <a:defRPr sz="1200" b="1">
                <a:solidFill>
                  <a:srgbClr val="F2C12E"/>
                </a:solidFill>
                <a:latin typeface="Consolas"/>
              </a:defRPr>
            </a:pPr>
            <a:r>
              <a:t>CHANNEL 4: LINKED ENTITIES</a:t>
            </a:r>
          </a:p>
          <a:p>
            <a:pPr>
              <a:spcBef>
                <a:spcPts val="400"/>
              </a:spcBef>
              <a:defRPr sz="1250">
                <a:solidFill>
                  <a:srgbClr val="B8B1A2"/>
                </a:solidFill>
                <a:latin typeface="Segoe UI"/>
              </a:defRPr>
            </a:pPr>
            <a:r>
              <a:t>Graph-lite entity linking across shared subjects, actors, and linked memory IDs.</a:t>
            </a:r>
          </a:p>
        </p:txBody>
      </p:sp>
      <p:sp>
        <p:nvSpPr>
          <p:cNvPr id="12" name="Rounded Rectangle 11"/>
          <p:cNvSpPr/>
          <p:nvPr/>
        </p:nvSpPr>
        <p:spPr>
          <a:xfrm>
            <a:off x="731520" y="4846320"/>
            <a:ext cx="10728655" cy="1371600"/>
          </a:xfrm>
          <a:prstGeom prst="roundRect">
            <a:avLst/>
          </a:prstGeom>
          <a:solidFill>
            <a:srgbClr val="1E1C18"/>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37760"/>
            <a:ext cx="10362895" cy="1188720"/>
          </a:xfrm>
          <a:prstGeom prst="rect">
            <a:avLst/>
          </a:prstGeom>
          <a:noFill/>
        </p:spPr>
        <p:txBody>
          <a:bodyPr wrap="square">
            <a:spAutoFit/>
          </a:bodyPr>
          <a:lstStyle/>
          <a:p>
            <a:pPr>
              <a:defRPr sz="1100" b="1">
                <a:solidFill>
                  <a:srgbClr val="4FB37E"/>
                </a:solidFill>
                <a:latin typeface="Consolas"/>
              </a:defRPr>
            </a:pPr>
            <a:r>
              <a:t>TRANSPARENT SCORING FORMULA &amp; RE-RANKING</a:t>
            </a:r>
          </a:p>
          <a:p>
            <a:pPr>
              <a:spcBef>
                <a:spcPts val="400"/>
              </a:spcBef>
              <a:defRPr sz="1300" b="1">
                <a:solidFill>
                  <a:srgbClr val="EDE6D6"/>
                </a:solidFill>
                <a:latin typeface="Consolas"/>
              </a:defRPr>
            </a:pPr>
            <a:r>
              <a:t>final = 0.55 · relevance(RRF) + 0.15 · recency + 0.15 · importance + 0.10 · confidence + type_boost</a:t>
            </a:r>
          </a:p>
          <a:p>
            <a:pPr>
              <a:spcBef>
                <a:spcPts val="400"/>
              </a:spcBef>
              <a:defRPr sz="1200">
                <a:solidFill>
                  <a:srgbClr val="B8B1A2"/>
                </a:solidFill>
                <a:latin typeface="Segoe UI"/>
              </a:defRPr>
            </a:pPr>
            <a:r>
              <a:t>Filtered at threshold 0.35 → Maximal Marginal Relevance (MMR, λ = 0.7) eliminates duplicates → Budget capped at 8 units. Full candidate trace stored.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EDGE CASES &amp; RELIABILITY</a:t>
            </a:r>
          </a:p>
          <a:p>
            <a:pPr>
              <a:spcBef>
                <a:spcPts val="400"/>
              </a:spcBef>
              <a:defRPr sz="2600" b="1">
                <a:solidFill>
                  <a:srgbClr val="EDE6D6"/>
                </a:solidFill>
                <a:latin typeface="Georgia"/>
              </a:defRPr>
            </a:pPr>
            <a:r>
              <a:t>Difficult Cases Enforced at the Data Layer, Not in Prompts</a:t>
            </a:r>
          </a:p>
        </p:txBody>
      </p:sp>
      <p:sp>
        <p:nvSpPr>
          <p:cNvPr id="4" name="Rounded Rectangle 3"/>
          <p:cNvSpPr/>
          <p:nvPr/>
        </p:nvSpPr>
        <p:spPr>
          <a:xfrm>
            <a:off x="731520" y="1828800"/>
            <a:ext cx="10728655" cy="786384"/>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01952"/>
            <a:ext cx="10362895" cy="640080"/>
          </a:xfrm>
          <a:prstGeom prst="rect">
            <a:avLst/>
          </a:prstGeom>
          <a:noFill/>
        </p:spPr>
        <p:txBody>
          <a:bodyPr wrap="square">
            <a:spAutoFit/>
          </a:bodyPr>
          <a:lstStyle/>
          <a:p>
            <a:pPr>
              <a:defRPr sz="1400" b="1">
                <a:solidFill>
                  <a:srgbClr val="F2C12E"/>
                </a:solidFill>
                <a:latin typeface="Georgia"/>
              </a:defRPr>
            </a:pPr>
            <a:r>
              <a:t>CORRECTION — Supersede, Not Delete</a:t>
            </a:r>
          </a:p>
          <a:p>
            <a:pPr>
              <a:spcBef>
                <a:spcPts val="200"/>
              </a:spcBef>
              <a:defRPr sz="1150">
                <a:solidFill>
                  <a:srgbClr val="B8B1A2"/>
                </a:solidFill>
                <a:latin typeface="Segoe UI"/>
              </a:defRPr>
            </a:pPr>
            <a:r>
              <a:t>Partial unique index on {ownerId, spaceKey, slotKey} for active memories guarantees exactly one current truth. Superseded record preserved in history.</a:t>
            </a:r>
          </a:p>
        </p:txBody>
      </p:sp>
      <p:sp>
        <p:nvSpPr>
          <p:cNvPr id="6" name="Rounded Rectangle 5"/>
          <p:cNvSpPr/>
          <p:nvPr/>
        </p:nvSpPr>
        <p:spPr>
          <a:xfrm>
            <a:off x="731520" y="2724912"/>
            <a:ext cx="10728655" cy="786384"/>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98064"/>
            <a:ext cx="10362895" cy="640080"/>
          </a:xfrm>
          <a:prstGeom prst="rect">
            <a:avLst/>
          </a:prstGeom>
          <a:noFill/>
        </p:spPr>
        <p:txBody>
          <a:bodyPr wrap="square">
            <a:spAutoFit/>
          </a:bodyPr>
          <a:lstStyle/>
          <a:p>
            <a:pPr>
              <a:defRPr sz="1400" b="1">
                <a:solidFill>
                  <a:srgbClr val="F08A24"/>
                </a:solidFill>
                <a:latin typeface="Georgia"/>
              </a:defRPr>
            </a:pPr>
            <a:r>
              <a:t>EXPIRY — Physical TTL Purge</a:t>
            </a:r>
          </a:p>
          <a:p>
            <a:pPr>
              <a:spcBef>
                <a:spcPts val="200"/>
              </a:spcBef>
              <a:defRPr sz="1150">
                <a:solidFill>
                  <a:srgbClr val="B8B1A2"/>
                </a:solidFill>
                <a:latin typeface="Segoe UI"/>
              </a:defRPr>
            </a:pPr>
            <a:r>
              <a:t>Query engine filters out expired memories instantly (expiresAt &gt; now). MongoDB's TTL index on purgeAt cleans up deleted records automatically.</a:t>
            </a:r>
          </a:p>
        </p:txBody>
      </p:sp>
      <p:sp>
        <p:nvSpPr>
          <p:cNvPr id="8" name="Rounded Rectangle 7"/>
          <p:cNvSpPr/>
          <p:nvPr/>
        </p:nvSpPr>
        <p:spPr>
          <a:xfrm>
            <a:off x="731520" y="3621024"/>
            <a:ext cx="10728655" cy="786384"/>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694176"/>
            <a:ext cx="10362895" cy="640080"/>
          </a:xfrm>
          <a:prstGeom prst="rect">
            <a:avLst/>
          </a:prstGeom>
          <a:noFill/>
        </p:spPr>
        <p:txBody>
          <a:bodyPr wrap="square">
            <a:spAutoFit/>
          </a:bodyPr>
          <a:lstStyle/>
          <a:p>
            <a:pPr>
              <a:defRPr sz="1400" b="1">
                <a:solidFill>
                  <a:srgbClr val="E2553A"/>
                </a:solidFill>
                <a:latin typeface="Georgia"/>
              </a:defRPr>
            </a:pPr>
            <a:r>
              <a:t>FORGET — Hard Physical Delete</a:t>
            </a:r>
          </a:p>
          <a:p>
            <a:pPr>
              <a:spcBef>
                <a:spcPts val="200"/>
              </a:spcBef>
              <a:defRPr sz="1150">
                <a:solidFill>
                  <a:srgbClr val="B8B1A2"/>
                </a:solidFill>
                <a:latin typeface="Segoe UI"/>
              </a:defRPr>
            </a:pPr>
            <a:r>
              <a:t>Forget hard-deletes the statement text and vector embedding immediately. Only a content-free tombstone event remains for audit trails.</a:t>
            </a:r>
          </a:p>
        </p:txBody>
      </p:sp>
      <p:sp>
        <p:nvSpPr>
          <p:cNvPr id="10" name="Rounded Rectangle 9"/>
          <p:cNvSpPr/>
          <p:nvPr/>
        </p:nvSpPr>
        <p:spPr>
          <a:xfrm>
            <a:off x="731520" y="4517136"/>
            <a:ext cx="10728655" cy="786384"/>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90288"/>
            <a:ext cx="10362895" cy="640080"/>
          </a:xfrm>
          <a:prstGeom prst="rect">
            <a:avLst/>
          </a:prstGeom>
          <a:noFill/>
        </p:spPr>
        <p:txBody>
          <a:bodyPr wrap="square">
            <a:spAutoFit/>
          </a:bodyPr>
          <a:lstStyle/>
          <a:p>
            <a:pPr>
              <a:defRPr sz="1400" b="1">
                <a:solidFill>
                  <a:srgbClr val="8B68E8"/>
                </a:solidFill>
                <a:latin typeface="Georgia"/>
              </a:defRPr>
            </a:pPr>
            <a:r>
              <a:t>CONTRADICTION — Review Resolution</a:t>
            </a:r>
          </a:p>
          <a:p>
            <a:pPr>
              <a:spcBef>
                <a:spcPts val="200"/>
              </a:spcBef>
              <a:defRPr sz="1150">
                <a:solidFill>
                  <a:srgbClr val="B8B1A2"/>
                </a:solidFill>
                <a:latin typeface="Segoe UI"/>
              </a:defRPr>
            </a:pPr>
            <a:r>
              <a:t>When statements disagree, conflict detector flags them in Review. User picks 'Keep left', 'Keep right', or 'Keep both'. Loser superseded with history.</a:t>
            </a:r>
          </a:p>
        </p:txBody>
      </p:sp>
      <p:sp>
        <p:nvSpPr>
          <p:cNvPr id="12" name="Rounded Rectangle 11"/>
          <p:cNvSpPr/>
          <p:nvPr/>
        </p:nvSpPr>
        <p:spPr>
          <a:xfrm>
            <a:off x="731520" y="5413248"/>
            <a:ext cx="10728655" cy="786384"/>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486400"/>
            <a:ext cx="10362895" cy="640080"/>
          </a:xfrm>
          <a:prstGeom prst="rect">
            <a:avLst/>
          </a:prstGeom>
          <a:noFill/>
        </p:spPr>
        <p:txBody>
          <a:bodyPr wrap="square">
            <a:spAutoFit/>
          </a:bodyPr>
          <a:lstStyle/>
          <a:p>
            <a:pPr>
              <a:defRPr sz="1400" b="1">
                <a:solidFill>
                  <a:srgbClr val="4FB37E"/>
                </a:solidFill>
                <a:latin typeface="Georgia"/>
              </a:defRPr>
            </a:pPr>
            <a:r>
              <a:t>PRIVATE DATA — Zero-Knowledge Gate</a:t>
            </a:r>
          </a:p>
          <a:p>
            <a:pPr>
              <a:spcBef>
                <a:spcPts val="200"/>
              </a:spcBef>
              <a:defRPr sz="1150">
                <a:solidFill>
                  <a:srgbClr val="B8B1A2"/>
                </a:solidFill>
                <a:latin typeface="Segoe UI"/>
              </a:defRPr>
            </a:pPr>
            <a:r>
              <a:t>API keys, card numbers, and passwords redacted before model sees them. Health and personal data held in human Review queue.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REFLECT &amp; CONSOLIDATE</a:t>
            </a:r>
          </a:p>
          <a:p>
            <a:pPr>
              <a:spcBef>
                <a:spcPts val="400"/>
              </a:spcBef>
              <a:defRPr sz="2600" b="1">
                <a:solidFill>
                  <a:srgbClr val="EDE6D6"/>
                </a:solidFill>
                <a:latin typeface="Georgia"/>
              </a:defRPr>
            </a:pPr>
            <a:r>
              <a:t>Turning Conversation History into Learned Agent Behaviour</a:t>
            </a:r>
          </a:p>
        </p:txBody>
      </p:sp>
      <p:sp>
        <p:nvSpPr>
          <p:cNvPr id="4" name="Rounded Rectangle 3"/>
          <p:cNvSpPr/>
          <p:nvPr/>
        </p:nvSpPr>
        <p:spPr>
          <a:xfrm>
            <a:off x="731520" y="1828800"/>
            <a:ext cx="512064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754880" cy="4023360"/>
          </a:xfrm>
          <a:prstGeom prst="rect">
            <a:avLst/>
          </a:prstGeom>
          <a:noFill/>
        </p:spPr>
        <p:txBody>
          <a:bodyPr wrap="square">
            <a:spAutoFit/>
          </a:bodyPr>
          <a:lstStyle/>
          <a:p>
            <a:pPr>
              <a:defRPr sz="1200" b="1">
                <a:solidFill>
                  <a:srgbClr val="8B68E8"/>
                </a:solidFill>
                <a:latin typeface="Consolas"/>
              </a:defRPr>
            </a:pPr>
            <a:r>
              <a:t>THE REFLECTION PIPELINE</a:t>
            </a:r>
          </a:p>
          <a:p>
            <a:pPr>
              <a:spcBef>
                <a:spcPts val="600"/>
              </a:spcBef>
              <a:defRPr sz="2000" b="1">
                <a:solidFill>
                  <a:srgbClr val="EDE6D6"/>
                </a:solidFill>
                <a:latin typeface="Georgia"/>
              </a:defRPr>
            </a:pPr>
            <a:r>
              <a:t>Background Sleep-Time Consolidation</a:t>
            </a:r>
          </a:p>
          <a:p>
            <a:pPr>
              <a:spcBef>
                <a:spcPts val="1000"/>
              </a:spcBef>
              <a:defRPr sz="1300">
                <a:solidFill>
                  <a:srgbClr val="B8B1A2"/>
                </a:solidFill>
                <a:latin typeface="Segoe UI"/>
              </a:defRPr>
            </a:pPr>
            <a:r>
              <a:t>1. Gather: Unreflected feedback and outcome memories.</a:t>
            </a:r>
          </a:p>
          <a:p>
            <a:pPr>
              <a:spcBef>
                <a:spcPts val="1000"/>
              </a:spcBef>
              <a:defRPr sz="1300">
                <a:solidFill>
                  <a:srgbClr val="B8B1A2"/>
                </a:solidFill>
                <a:latin typeface="Segoe UI"/>
              </a:defRPr>
            </a:pPr>
            <a:r>
              <a:t>2. Cluster: Groups recurring comments by intent and topic.</a:t>
            </a:r>
          </a:p>
          <a:p>
            <a:pPr>
              <a:spcBef>
                <a:spcPts val="1000"/>
              </a:spcBef>
              <a:defRPr sz="1300">
                <a:solidFill>
                  <a:srgbClr val="B8B1A2"/>
                </a:solidFill>
                <a:latin typeface="Segoe UI"/>
              </a:defRPr>
            </a:pPr>
            <a:r>
              <a:t>3. Consolidate: Extracts durable user habits and implicit preferences.</a:t>
            </a:r>
          </a:p>
          <a:p>
            <a:pPr>
              <a:spcBef>
                <a:spcPts val="1000"/>
              </a:spcBef>
              <a:defRPr sz="1300">
                <a:solidFill>
                  <a:srgbClr val="B8B1A2"/>
                </a:solidFill>
                <a:latin typeface="Segoe UI"/>
              </a:defRPr>
            </a:pPr>
            <a:r>
              <a:t>4. Write: Produces high-level observations and actionable strategies.</a:t>
            </a:r>
          </a:p>
        </p:txBody>
      </p:sp>
      <p:sp>
        <p:nvSpPr>
          <p:cNvPr id="6" name="Rounded Rectangle 5"/>
          <p:cNvSpPr/>
          <p:nvPr/>
        </p:nvSpPr>
        <p:spPr>
          <a:xfrm>
            <a:off x="6217920" y="1828800"/>
            <a:ext cx="5242255" cy="4389120"/>
          </a:xfrm>
          <a:prstGeom prst="roundRect">
            <a:avLst/>
          </a:prstGeom>
          <a:solidFill>
            <a:srgbClr val="1E1C18"/>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2011680"/>
            <a:ext cx="4876495" cy="4023360"/>
          </a:xfrm>
          <a:prstGeom prst="rect">
            <a:avLst/>
          </a:prstGeom>
          <a:noFill/>
        </p:spPr>
        <p:txBody>
          <a:bodyPr wrap="square">
            <a:spAutoFit/>
          </a:bodyPr>
          <a:lstStyle/>
          <a:p>
            <a:pPr>
              <a:defRPr sz="1200" b="1">
                <a:solidFill>
                  <a:srgbClr val="F2C12E"/>
                </a:solidFill>
                <a:latin typeface="Consolas"/>
              </a:defRPr>
            </a:pPr>
            <a:r>
              <a:t>LEARNED STRATEGY IN PRODUCTION</a:t>
            </a:r>
          </a:p>
          <a:p>
            <a:pPr>
              <a:spcBef>
                <a:spcPts val="600"/>
              </a:spcBef>
              <a:defRPr sz="2000" b="1">
                <a:solidFill>
                  <a:srgbClr val="EDE6D6"/>
                </a:solidFill>
                <a:latin typeface="Georgia"/>
              </a:defRPr>
            </a:pPr>
            <a:r>
              <a:t>Feedback → Actionable Agent Rule</a:t>
            </a:r>
          </a:p>
          <a:p>
            <a:pPr>
              <a:spcBef>
                <a:spcPts val="1400"/>
              </a:spcBef>
              <a:defRPr sz="1300" b="1">
                <a:solidFill>
                  <a:srgbClr val="EDE6D6"/>
                </a:solidFill>
                <a:latin typeface="Segoe UI"/>
              </a:defRPr>
            </a:pPr>
            <a:r>
              <a:t>Observed User Feedback:</a:t>
            </a:r>
          </a:p>
          <a:p>
            <a:pPr>
              <a:spcBef>
                <a:spcPts val="400"/>
              </a:spcBef>
              <a:defRPr sz="1250">
                <a:solidFill>
                  <a:srgbClr val="B8B1A2"/>
                </a:solidFill>
                <a:latin typeface="Segoe UI"/>
              </a:defRPr>
            </a:pPr>
            <a:r>
              <a:t>• 'Too long, keep it concise'</a:t>
            </a:r>
            <a:br/>
            <a:r>
              <a:t>• 'Give me bullet points please'</a:t>
            </a:r>
            <a:br/>
            <a:r>
              <a:t>• 'Don't write essays'</a:t>
            </a:r>
          </a:p>
          <a:p>
            <a:pPr>
              <a:spcBef>
                <a:spcPts val="1400"/>
              </a:spcBef>
              <a:defRPr sz="1300" b="1">
                <a:solidFill>
                  <a:srgbClr val="4FB37E"/>
                </a:solidFill>
                <a:latin typeface="Segoe UI"/>
              </a:defRPr>
            </a:pPr>
            <a:r>
              <a:t>Learned Strategy Generated:</a:t>
            </a:r>
          </a:p>
          <a:p>
            <a:pPr>
              <a:spcBef>
                <a:spcPts val="400"/>
              </a:spcBef>
              <a:defRPr sz="1500">
                <a:solidFill>
                  <a:srgbClr val="F2C12E"/>
                </a:solidFill>
                <a:latin typeface="Georgia"/>
              </a:defRPr>
            </a:pPr>
            <a:r>
              <a:t>"When asked for a plan, give at most 5 time-boxed bullets."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MONGODB ATLAS</a:t>
            </a:r>
          </a:p>
          <a:p>
            <a:pPr>
              <a:spcBef>
                <a:spcPts val="400"/>
              </a:spcBef>
              <a:defRPr sz="2600" b="1">
                <a:solidFill>
                  <a:srgbClr val="EDE6D6"/>
                </a:solidFill>
                <a:latin typeface="Georgia"/>
              </a:defRPr>
            </a:pPr>
            <a:r>
              <a:t>Eight Native MongoDB Atlas Features Powering Radahn</a:t>
            </a:r>
          </a:p>
        </p:txBody>
      </p:sp>
      <p:sp>
        <p:nvSpPr>
          <p:cNvPr id="4" name="Rounded Rectangle 3"/>
          <p:cNvSpPr/>
          <p:nvPr/>
        </p:nvSpPr>
        <p:spPr>
          <a:xfrm>
            <a:off x="731520" y="182880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901952"/>
            <a:ext cx="4876495" cy="841248"/>
          </a:xfrm>
          <a:prstGeom prst="rect">
            <a:avLst/>
          </a:prstGeom>
          <a:noFill/>
        </p:spPr>
        <p:txBody>
          <a:bodyPr wrap="square">
            <a:spAutoFit/>
          </a:bodyPr>
          <a:lstStyle/>
          <a:p>
            <a:pPr>
              <a:defRPr sz="1400" b="1">
                <a:solidFill>
                  <a:srgbClr val="F2C12E"/>
                </a:solidFill>
                <a:latin typeface="Georgia"/>
              </a:defRPr>
            </a:pPr>
            <a:r>
              <a:t>Document Model + $jsonSchema</a:t>
            </a:r>
          </a:p>
          <a:p>
            <a:pPr>
              <a:spcBef>
                <a:spcPts val="200"/>
              </a:spcBef>
              <a:defRPr sz="1150">
                <a:solidFill>
                  <a:srgbClr val="B8B1A2"/>
                </a:solidFill>
                <a:latin typeface="Segoe UI"/>
              </a:defRPr>
            </a:pPr>
            <a:r>
              <a:t>Typed memory documents with strictly validated schemas for provenance, lifecycle, and scores.</a:t>
            </a:r>
          </a:p>
        </p:txBody>
      </p:sp>
      <p:sp>
        <p:nvSpPr>
          <p:cNvPr id="6" name="Rounded Rectangle 5"/>
          <p:cNvSpPr/>
          <p:nvPr/>
        </p:nvSpPr>
        <p:spPr>
          <a:xfrm>
            <a:off x="6217920" y="182880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901952"/>
            <a:ext cx="4876495" cy="841248"/>
          </a:xfrm>
          <a:prstGeom prst="rect">
            <a:avLst/>
          </a:prstGeom>
          <a:noFill/>
        </p:spPr>
        <p:txBody>
          <a:bodyPr wrap="square">
            <a:spAutoFit/>
          </a:bodyPr>
          <a:lstStyle/>
          <a:p>
            <a:pPr>
              <a:defRPr sz="1400" b="1">
                <a:solidFill>
                  <a:srgbClr val="F2C12E"/>
                </a:solidFill>
                <a:latin typeface="Georgia"/>
              </a:defRPr>
            </a:pPr>
            <a:r>
              <a:t>Atlas Vector Search</a:t>
            </a:r>
          </a:p>
          <a:p>
            <a:pPr>
              <a:spcBef>
                <a:spcPts val="200"/>
              </a:spcBef>
              <a:defRPr sz="1150">
                <a:solidFill>
                  <a:srgbClr val="B8B1A2"/>
                </a:solidFill>
                <a:latin typeface="Segoe UI"/>
              </a:defRPr>
            </a:pPr>
            <a:r>
              <a:t>768-d cosine vector index pre-filtered on ownerId, spaceKey, status, and memory type.</a:t>
            </a:r>
          </a:p>
        </p:txBody>
      </p:sp>
      <p:sp>
        <p:nvSpPr>
          <p:cNvPr id="8" name="Rounded Rectangle 7"/>
          <p:cNvSpPr/>
          <p:nvPr/>
        </p:nvSpPr>
        <p:spPr>
          <a:xfrm>
            <a:off x="731520" y="292608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999232"/>
            <a:ext cx="4876495" cy="841248"/>
          </a:xfrm>
          <a:prstGeom prst="rect">
            <a:avLst/>
          </a:prstGeom>
          <a:noFill/>
        </p:spPr>
        <p:txBody>
          <a:bodyPr wrap="square">
            <a:spAutoFit/>
          </a:bodyPr>
          <a:lstStyle/>
          <a:p>
            <a:pPr>
              <a:defRPr sz="1400" b="1">
                <a:solidFill>
                  <a:srgbClr val="F2C12E"/>
                </a:solidFill>
                <a:latin typeface="Georgia"/>
              </a:defRPr>
            </a:pPr>
            <a:r>
              <a:t>Atlas Search (Lucene)</a:t>
            </a:r>
          </a:p>
          <a:p>
            <a:pPr>
              <a:spcBef>
                <a:spcPts val="200"/>
              </a:spcBef>
              <a:defRPr sz="1150">
                <a:solidFill>
                  <a:srgbClr val="B8B1A2"/>
                </a:solidFill>
                <a:latin typeface="Segoe UI"/>
              </a:defRPr>
            </a:pPr>
            <a:r>
              <a:t>Lexical full-text search capturing exact identifiers, codes ('M0'), and acronyms.</a:t>
            </a:r>
          </a:p>
        </p:txBody>
      </p:sp>
      <p:sp>
        <p:nvSpPr>
          <p:cNvPr id="10" name="Rounded Rectangle 9"/>
          <p:cNvSpPr/>
          <p:nvPr/>
        </p:nvSpPr>
        <p:spPr>
          <a:xfrm>
            <a:off x="6217920" y="292608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2999232"/>
            <a:ext cx="4876495" cy="841248"/>
          </a:xfrm>
          <a:prstGeom prst="rect">
            <a:avLst/>
          </a:prstGeom>
          <a:noFill/>
        </p:spPr>
        <p:txBody>
          <a:bodyPr wrap="square">
            <a:spAutoFit/>
          </a:bodyPr>
          <a:lstStyle/>
          <a:p>
            <a:pPr>
              <a:defRPr sz="1400" b="1">
                <a:solidFill>
                  <a:srgbClr val="F2C12E"/>
                </a:solidFill>
                <a:latin typeface="Georgia"/>
              </a:defRPr>
            </a:pPr>
            <a:r>
              <a:t>TTL Indexes</a:t>
            </a:r>
          </a:p>
          <a:p>
            <a:pPr>
              <a:spcBef>
                <a:spcPts val="200"/>
              </a:spcBef>
              <a:defRPr sz="1150">
                <a:solidFill>
                  <a:srgbClr val="B8B1A2"/>
                </a:solidFill>
                <a:latin typeface="Segoe UI"/>
              </a:defRPr>
            </a:pPr>
            <a:r>
              <a:t>Physical auto-purging on purgeAt for expired memories, traces, and rate-limits without cron code.</a:t>
            </a:r>
          </a:p>
        </p:txBody>
      </p:sp>
      <p:sp>
        <p:nvSpPr>
          <p:cNvPr id="12" name="Rounded Rectangle 11"/>
          <p:cNvSpPr/>
          <p:nvPr/>
        </p:nvSpPr>
        <p:spPr>
          <a:xfrm>
            <a:off x="731520" y="402336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096512"/>
            <a:ext cx="4876495" cy="841248"/>
          </a:xfrm>
          <a:prstGeom prst="rect">
            <a:avLst/>
          </a:prstGeom>
          <a:noFill/>
        </p:spPr>
        <p:txBody>
          <a:bodyPr wrap="square">
            <a:spAutoFit/>
          </a:bodyPr>
          <a:lstStyle/>
          <a:p>
            <a:pPr>
              <a:defRPr sz="1400" b="1">
                <a:solidFill>
                  <a:srgbClr val="F2C12E"/>
                </a:solidFill>
                <a:latin typeface="Georgia"/>
              </a:defRPr>
            </a:pPr>
            <a:r>
              <a:t>Partial Unique Index</a:t>
            </a:r>
          </a:p>
          <a:p>
            <a:pPr>
              <a:spcBef>
                <a:spcPts val="200"/>
              </a:spcBef>
              <a:defRPr sz="1150">
                <a:solidFill>
                  <a:srgbClr val="B8B1A2"/>
                </a:solidFill>
                <a:latin typeface="Segoe UI"/>
              </a:defRPr>
            </a:pPr>
            <a:r>
              <a:t>{ownerId, spaceKey, slotKey} where status: 'active' guarantees one truth under concurrent writers.</a:t>
            </a:r>
          </a:p>
        </p:txBody>
      </p:sp>
      <p:sp>
        <p:nvSpPr>
          <p:cNvPr id="14" name="Rounded Rectangle 13"/>
          <p:cNvSpPr/>
          <p:nvPr/>
        </p:nvSpPr>
        <p:spPr>
          <a:xfrm>
            <a:off x="6217920" y="402336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4096512"/>
            <a:ext cx="4876495" cy="841248"/>
          </a:xfrm>
          <a:prstGeom prst="rect">
            <a:avLst/>
          </a:prstGeom>
          <a:noFill/>
        </p:spPr>
        <p:txBody>
          <a:bodyPr wrap="square">
            <a:spAutoFit/>
          </a:bodyPr>
          <a:lstStyle/>
          <a:p>
            <a:pPr>
              <a:defRPr sz="1400" b="1">
                <a:solidFill>
                  <a:srgbClr val="F2C12E"/>
                </a:solidFill>
                <a:latin typeface="Georgia"/>
              </a:defRPr>
            </a:pPr>
            <a:r>
              <a:t>Multi-Document Transactions</a:t>
            </a:r>
          </a:p>
          <a:p>
            <a:pPr>
              <a:spcBef>
                <a:spcPts val="200"/>
              </a:spcBef>
              <a:defRPr sz="1150">
                <a:solidFill>
                  <a:srgbClr val="B8B1A2"/>
                </a:solidFill>
                <a:latin typeface="Segoe UI"/>
              </a:defRPr>
            </a:pPr>
            <a:r>
              <a:t>Atomic commits across memories and memory_events guarantee zero orphaned updates.</a:t>
            </a:r>
          </a:p>
        </p:txBody>
      </p:sp>
      <p:sp>
        <p:nvSpPr>
          <p:cNvPr id="16" name="Rounded Rectangle 15"/>
          <p:cNvSpPr/>
          <p:nvPr/>
        </p:nvSpPr>
        <p:spPr>
          <a:xfrm>
            <a:off x="731520" y="512064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193792"/>
            <a:ext cx="4876495" cy="841248"/>
          </a:xfrm>
          <a:prstGeom prst="rect">
            <a:avLst/>
          </a:prstGeom>
          <a:noFill/>
        </p:spPr>
        <p:txBody>
          <a:bodyPr wrap="square">
            <a:spAutoFit/>
          </a:bodyPr>
          <a:lstStyle/>
          <a:p>
            <a:pPr>
              <a:defRPr sz="1400" b="1">
                <a:solidFill>
                  <a:srgbClr val="F2C12E"/>
                </a:solidFill>
                <a:latin typeface="Georgia"/>
              </a:defRPr>
            </a:pPr>
            <a:r>
              <a:t>Change Streams</a:t>
            </a:r>
          </a:p>
          <a:p>
            <a:pPr>
              <a:spcBef>
                <a:spcPts val="200"/>
              </a:spcBef>
              <a:defRPr sz="1150">
                <a:solidFill>
                  <a:srgbClr val="B8B1A2"/>
                </a:solidFill>
                <a:latin typeface="Segoe UI"/>
              </a:defRPr>
            </a:pPr>
            <a:r>
              <a:t>Watches memory_events to stream real-time Server-Sent Events (SSE) to browser write chips.</a:t>
            </a:r>
          </a:p>
        </p:txBody>
      </p:sp>
      <p:sp>
        <p:nvSpPr>
          <p:cNvPr id="18" name="Rounded Rectangle 17"/>
          <p:cNvSpPr/>
          <p:nvPr/>
        </p:nvSpPr>
        <p:spPr>
          <a:xfrm>
            <a:off x="6217920" y="5120640"/>
            <a:ext cx="5242255" cy="987552"/>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5193792"/>
            <a:ext cx="4876495" cy="841248"/>
          </a:xfrm>
          <a:prstGeom prst="rect">
            <a:avLst/>
          </a:prstGeom>
          <a:noFill/>
        </p:spPr>
        <p:txBody>
          <a:bodyPr wrap="square">
            <a:spAutoFit/>
          </a:bodyPr>
          <a:lstStyle/>
          <a:p>
            <a:pPr>
              <a:defRPr sz="1400" b="1">
                <a:solidFill>
                  <a:srgbClr val="F2C12E"/>
                </a:solidFill>
                <a:latin typeface="Georgia"/>
              </a:defRPr>
            </a:pPr>
            <a:r>
              <a:t>Aggregation Pipelines</a:t>
            </a:r>
          </a:p>
          <a:p>
            <a:pPr>
              <a:spcBef>
                <a:spcPts val="200"/>
              </a:spcBef>
              <a:defRPr sz="1150">
                <a:solidFill>
                  <a:srgbClr val="B8B1A2"/>
                </a:solidFill>
                <a:latin typeface="Segoe UI"/>
              </a:defRPr>
            </a:pPr>
            <a:r>
              <a:t>Real-time analytics for memory type distribution, recall hit rates, and weekly corrections.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VERIFICATION</a:t>
            </a:r>
          </a:p>
          <a:p>
            <a:pPr>
              <a:spcBef>
                <a:spcPts val="400"/>
              </a:spcBef>
              <a:defRPr sz="2600" b="1">
                <a:solidFill>
                  <a:srgbClr val="EDE6D6"/>
                </a:solidFill>
                <a:latin typeface="Georgia"/>
              </a:defRPr>
            </a:pPr>
            <a:r>
              <a:t>Production Evaluation Results: 100% Pass Rate Across 51 Checks</a:t>
            </a:r>
          </a:p>
        </p:txBody>
      </p:sp>
      <p:sp>
        <p:nvSpPr>
          <p:cNvPr id="4" name="Rounded Rectangle 3"/>
          <p:cNvSpPr/>
          <p:nvPr/>
        </p:nvSpPr>
        <p:spPr>
          <a:xfrm>
            <a:off x="731520" y="1828800"/>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3047695" cy="1691640"/>
          </a:xfrm>
          <a:prstGeom prst="rect">
            <a:avLst/>
          </a:prstGeom>
          <a:noFill/>
        </p:spPr>
        <p:txBody>
          <a:bodyPr wrap="square">
            <a:spAutoFit/>
          </a:bodyPr>
          <a:lstStyle/>
          <a:p>
            <a:pPr>
              <a:defRPr sz="3200" b="1">
                <a:solidFill>
                  <a:srgbClr val="4FB37E"/>
                </a:solidFill>
                <a:latin typeface="Consolas"/>
              </a:defRPr>
            </a:pPr>
            <a:r>
              <a:t>20 / 20</a:t>
            </a:r>
          </a:p>
          <a:p>
            <a:pPr>
              <a:spcBef>
                <a:spcPts val="400"/>
              </a:spcBef>
              <a:defRPr sz="1600" b="1">
                <a:solidFill>
                  <a:srgbClr val="EDE6D6"/>
                </a:solidFill>
                <a:latin typeface="Georgia"/>
              </a:defRPr>
            </a:pPr>
            <a:r>
              <a:t>Live Cases Passed</a:t>
            </a:r>
          </a:p>
          <a:p>
            <a:pPr>
              <a:spcBef>
                <a:spcPts val="400"/>
              </a:spcBef>
              <a:defRPr sz="1200">
                <a:solidFill>
                  <a:srgbClr val="B8B1A2"/>
                </a:solidFill>
                <a:latin typeface="Segoe UI"/>
              </a:defRPr>
            </a:pPr>
            <a:r>
              <a:t>Validated on production (write-add, corrections, explicit forget, cold-index plan).</a:t>
            </a:r>
          </a:p>
        </p:txBody>
      </p:sp>
      <p:sp>
        <p:nvSpPr>
          <p:cNvPr id="6" name="Rounded Rectangle 5"/>
          <p:cNvSpPr/>
          <p:nvPr/>
        </p:nvSpPr>
        <p:spPr>
          <a:xfrm>
            <a:off x="4389120" y="1828800"/>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965960"/>
            <a:ext cx="3047695" cy="1691640"/>
          </a:xfrm>
          <a:prstGeom prst="rect">
            <a:avLst/>
          </a:prstGeom>
          <a:noFill/>
        </p:spPr>
        <p:txBody>
          <a:bodyPr wrap="square">
            <a:spAutoFit/>
          </a:bodyPr>
          <a:lstStyle/>
          <a:p>
            <a:pPr>
              <a:defRPr sz="3200" b="1">
                <a:solidFill>
                  <a:srgbClr val="4FB37E"/>
                </a:solidFill>
                <a:latin typeface="Consolas"/>
              </a:defRPr>
            </a:pPr>
            <a:r>
              <a:t>31 / 31</a:t>
            </a:r>
          </a:p>
          <a:p>
            <a:pPr>
              <a:spcBef>
                <a:spcPts val="400"/>
              </a:spcBef>
              <a:defRPr sz="1600" b="1">
                <a:solidFill>
                  <a:srgbClr val="EDE6D6"/>
                </a:solidFill>
                <a:latin typeface="Georgia"/>
              </a:defRPr>
            </a:pPr>
            <a:r>
              <a:t>Deterministic Checks</a:t>
            </a:r>
          </a:p>
          <a:p>
            <a:pPr>
              <a:spcBef>
                <a:spcPts val="400"/>
              </a:spcBef>
              <a:defRPr sz="1200">
                <a:solidFill>
                  <a:srgbClr val="B8B1A2"/>
                </a:solidFill>
                <a:latin typeface="Segoe UI"/>
              </a:defRPr>
            </a:pPr>
            <a:r>
              <a:t>Privacy gate, prompt injection resistance, reconcile ops, and TTL grace rules.</a:t>
            </a:r>
          </a:p>
        </p:txBody>
      </p:sp>
      <p:sp>
        <p:nvSpPr>
          <p:cNvPr id="8" name="Rounded Rectangle 7"/>
          <p:cNvSpPr/>
          <p:nvPr/>
        </p:nvSpPr>
        <p:spPr>
          <a:xfrm>
            <a:off x="8046720" y="1828800"/>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965960"/>
            <a:ext cx="3047695" cy="1691640"/>
          </a:xfrm>
          <a:prstGeom prst="rect">
            <a:avLst/>
          </a:prstGeom>
          <a:noFill/>
        </p:spPr>
        <p:txBody>
          <a:bodyPr wrap="square">
            <a:spAutoFit/>
          </a:bodyPr>
          <a:lstStyle/>
          <a:p>
            <a:pPr>
              <a:defRPr sz="3200" b="1">
                <a:solidFill>
                  <a:srgbClr val="F2C12E"/>
                </a:solidFill>
                <a:latin typeface="Consolas"/>
              </a:defRPr>
            </a:pPr>
            <a:r>
              <a:t>0</a:t>
            </a:r>
          </a:p>
          <a:p>
            <a:pPr>
              <a:spcBef>
                <a:spcPts val="400"/>
              </a:spcBef>
              <a:defRPr sz="1600" b="1">
                <a:solidFill>
                  <a:srgbClr val="EDE6D6"/>
                </a:solidFill>
                <a:latin typeface="Georgia"/>
              </a:defRPr>
            </a:pPr>
            <a:r>
              <a:t>Secrets Stored</a:t>
            </a:r>
          </a:p>
          <a:p>
            <a:pPr>
              <a:spcBef>
                <a:spcPts val="400"/>
              </a:spcBef>
              <a:defRPr sz="1200">
                <a:solidFill>
                  <a:srgbClr val="B8B1A2"/>
                </a:solidFill>
                <a:latin typeface="Segoe UI"/>
              </a:defRPr>
            </a:pPr>
            <a:r>
              <a:t>100% interception of simulated API keys, card numbers, and passwords.</a:t>
            </a:r>
          </a:p>
        </p:txBody>
      </p:sp>
      <p:sp>
        <p:nvSpPr>
          <p:cNvPr id="10" name="Rounded Rectangle 9"/>
          <p:cNvSpPr/>
          <p:nvPr/>
        </p:nvSpPr>
        <p:spPr>
          <a:xfrm>
            <a:off x="731520" y="3977639"/>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114800"/>
            <a:ext cx="3047695" cy="1691640"/>
          </a:xfrm>
          <a:prstGeom prst="rect">
            <a:avLst/>
          </a:prstGeom>
          <a:noFill/>
        </p:spPr>
        <p:txBody>
          <a:bodyPr wrap="square">
            <a:spAutoFit/>
          </a:bodyPr>
          <a:lstStyle/>
          <a:p>
            <a:pPr>
              <a:defRPr sz="3200" b="1">
                <a:solidFill>
                  <a:srgbClr val="4FB37E"/>
                </a:solidFill>
                <a:latin typeface="Consolas"/>
              </a:defRPr>
            </a:pPr>
            <a:r>
              <a:t>1.0</a:t>
            </a:r>
          </a:p>
          <a:p>
            <a:pPr>
              <a:spcBef>
                <a:spcPts val="400"/>
              </a:spcBef>
              <a:defRPr sz="1600" b="1">
                <a:solidFill>
                  <a:srgbClr val="EDE6D6"/>
                </a:solidFill>
                <a:latin typeface="Georgia"/>
              </a:defRPr>
            </a:pPr>
            <a:r>
              <a:t>Recall@5</a:t>
            </a:r>
          </a:p>
          <a:p>
            <a:pPr>
              <a:spcBef>
                <a:spcPts val="400"/>
              </a:spcBef>
              <a:defRPr sz="1200">
                <a:solidFill>
                  <a:srgbClr val="B8B1A2"/>
                </a:solidFill>
                <a:latin typeface="Segoe UI"/>
              </a:defRPr>
            </a:pPr>
            <a:r>
              <a:t>Top 5 candidates captured all relevant ground-truth active memories.</a:t>
            </a:r>
          </a:p>
        </p:txBody>
      </p:sp>
      <p:sp>
        <p:nvSpPr>
          <p:cNvPr id="12" name="Rounded Rectangle 11"/>
          <p:cNvSpPr/>
          <p:nvPr/>
        </p:nvSpPr>
        <p:spPr>
          <a:xfrm>
            <a:off x="4389120" y="3977639"/>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4114800"/>
            <a:ext cx="3047695" cy="1691640"/>
          </a:xfrm>
          <a:prstGeom prst="rect">
            <a:avLst/>
          </a:prstGeom>
          <a:noFill/>
        </p:spPr>
        <p:txBody>
          <a:bodyPr wrap="square">
            <a:spAutoFit/>
          </a:bodyPr>
          <a:lstStyle/>
          <a:p>
            <a:pPr>
              <a:defRPr sz="3200" b="1">
                <a:solidFill>
                  <a:srgbClr val="3A63D8"/>
                </a:solidFill>
                <a:latin typeface="Consolas"/>
              </a:defRPr>
            </a:pPr>
            <a:r>
              <a:t>566 ms</a:t>
            </a:r>
          </a:p>
          <a:p>
            <a:pPr>
              <a:spcBef>
                <a:spcPts val="400"/>
              </a:spcBef>
              <a:defRPr sz="1600" b="1">
                <a:solidFill>
                  <a:srgbClr val="EDE6D6"/>
                </a:solidFill>
                <a:latin typeface="Georgia"/>
              </a:defRPr>
            </a:pPr>
            <a:r>
              <a:t>p50 Recall Latency</a:t>
            </a:r>
          </a:p>
          <a:p>
            <a:pPr>
              <a:spcBef>
                <a:spcPts val="400"/>
              </a:spcBef>
              <a:defRPr sz="1200">
                <a:solidFill>
                  <a:srgbClr val="B8B1A2"/>
                </a:solidFill>
                <a:latin typeface="Segoe UI"/>
              </a:defRPr>
            </a:pPr>
            <a:r>
              <a:t>Includes query vector embedding, multi-channel fusion, and scoring (p95: 571 ms).</a:t>
            </a:r>
          </a:p>
        </p:txBody>
      </p:sp>
      <p:sp>
        <p:nvSpPr>
          <p:cNvPr id="14" name="Rounded Rectangle 13"/>
          <p:cNvSpPr/>
          <p:nvPr/>
        </p:nvSpPr>
        <p:spPr>
          <a:xfrm>
            <a:off x="8046720" y="3977639"/>
            <a:ext cx="3413455" cy="196596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4114800"/>
            <a:ext cx="3047695" cy="1691640"/>
          </a:xfrm>
          <a:prstGeom prst="rect">
            <a:avLst/>
          </a:prstGeom>
          <a:noFill/>
        </p:spPr>
        <p:txBody>
          <a:bodyPr wrap="square">
            <a:spAutoFit/>
          </a:bodyPr>
          <a:lstStyle/>
          <a:p>
            <a:pPr>
              <a:defRPr sz="3200" b="1">
                <a:solidFill>
                  <a:srgbClr val="8B68E8"/>
                </a:solidFill>
                <a:latin typeface="Consolas"/>
              </a:defRPr>
            </a:pPr>
            <a:r>
              <a:t>2.0 s</a:t>
            </a:r>
          </a:p>
          <a:p>
            <a:pPr>
              <a:spcBef>
                <a:spcPts val="400"/>
              </a:spcBef>
              <a:defRPr sz="1600" b="1">
                <a:solidFill>
                  <a:srgbClr val="EDE6D6"/>
                </a:solidFill>
                <a:latin typeface="Georgia"/>
              </a:defRPr>
            </a:pPr>
            <a:r>
              <a:t>p50 Memory Write</a:t>
            </a:r>
          </a:p>
          <a:p>
            <a:pPr>
              <a:spcBef>
                <a:spcPts val="400"/>
              </a:spcBef>
              <a:defRPr sz="1200">
                <a:solidFill>
                  <a:srgbClr val="B8B1A2"/>
                </a:solidFill>
                <a:latin typeface="Segoe UI"/>
              </a:defRPr>
            </a:pPr>
            <a:r>
              <a:t>From chat reply completion to committed event in change stream.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ROADMAP &amp; SCALING</a:t>
            </a:r>
          </a:p>
          <a:p>
            <a:pPr>
              <a:spcBef>
                <a:spcPts val="400"/>
              </a:spcBef>
              <a:defRPr sz="2600" b="1">
                <a:solidFill>
                  <a:srgbClr val="EDE6D6"/>
                </a:solidFill>
                <a:latin typeface="Georgia"/>
              </a:defRPr>
            </a:pPr>
            <a:r>
              <a:t>Honest Limitations Today and the Enterprise Scale Architecture</a:t>
            </a:r>
          </a:p>
        </p:txBody>
      </p:sp>
      <p:sp>
        <p:nvSpPr>
          <p:cNvPr id="4" name="Rounded Rectangle 3"/>
          <p:cNvSpPr/>
          <p:nvPr/>
        </p:nvSpPr>
        <p:spPr>
          <a:xfrm>
            <a:off x="731520" y="1828800"/>
            <a:ext cx="512064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754880" cy="4023360"/>
          </a:xfrm>
          <a:prstGeom prst="rect">
            <a:avLst/>
          </a:prstGeom>
          <a:noFill/>
        </p:spPr>
        <p:txBody>
          <a:bodyPr wrap="square">
            <a:spAutoFit/>
          </a:bodyPr>
          <a:lstStyle/>
          <a:p>
            <a:pPr>
              <a:defRPr sz="1200" b="1">
                <a:solidFill>
                  <a:srgbClr val="F08A24"/>
                </a:solidFill>
                <a:latin typeface="Consolas"/>
              </a:defRPr>
            </a:pPr>
            <a:r>
              <a:t>HONEST LIMITATIONS (TODAY)</a:t>
            </a:r>
          </a:p>
          <a:p>
            <a:pPr>
              <a:spcBef>
                <a:spcPts val="600"/>
              </a:spcBef>
              <a:defRPr sz="2000" b="1">
                <a:solidFill>
                  <a:srgbClr val="EDE6D6"/>
                </a:solidFill>
                <a:latin typeface="Georgia"/>
              </a:defRPr>
            </a:pPr>
            <a:r>
              <a:t>Free Tier Realities</a:t>
            </a:r>
          </a:p>
          <a:p>
            <a:pPr>
              <a:spcBef>
                <a:spcPts val="1000"/>
              </a:spcBef>
              <a:defRPr sz="1250">
                <a:solidFill>
                  <a:srgbClr val="B8B1A2"/>
                </a:solidFill>
                <a:latin typeface="Segoe UI"/>
              </a:defRPr>
            </a:pPr>
            <a:r>
              <a:t>• Model Quota Bounds: Gemini free tiers have small daily quotas. Radahn hedges to Groq GPT-OSS 120B after 3.5s to prevent stalled turns.</a:t>
            </a:r>
          </a:p>
          <a:p>
            <a:pPr>
              <a:spcBef>
                <a:spcPts val="1000"/>
              </a:spcBef>
              <a:defRPr sz="1250">
                <a:solidFill>
                  <a:srgbClr val="B8B1A2"/>
                </a:solidFill>
                <a:latin typeface="Segoe UI"/>
              </a:defRPr>
            </a:pPr>
            <a:r>
              <a:t>• Probabilistic Extraction: LLM extraction can occasionally miss nuance; made safe because all writes are visible, editable, and reversible.</a:t>
            </a:r>
          </a:p>
          <a:p>
            <a:pPr>
              <a:spcBef>
                <a:spcPts val="1000"/>
              </a:spcBef>
              <a:defRPr sz="1250">
                <a:solidFill>
                  <a:srgbClr val="B8B1A2"/>
                </a:solidFill>
                <a:latin typeface="Segoe UI"/>
              </a:defRPr>
            </a:pPr>
            <a:r>
              <a:t>• 7-Day Guest Lifetime: Anonymous guest data purges after 7 days unless linked to Google.</a:t>
            </a:r>
          </a:p>
          <a:p>
            <a:pPr>
              <a:spcBef>
                <a:spcPts val="1000"/>
              </a:spcBef>
              <a:defRPr sz="1250">
                <a:solidFill>
                  <a:srgbClr val="B8B1A2"/>
                </a:solidFill>
                <a:latin typeface="Segoe UI"/>
              </a:defRPr>
            </a:pPr>
            <a:r>
              <a:t>• M0 Index Limits: MongoDB Atlas M0 limits search indexes to 3 per cluster, requiring unified eval namespaces.</a:t>
            </a:r>
          </a:p>
        </p:txBody>
      </p:sp>
      <p:sp>
        <p:nvSpPr>
          <p:cNvPr id="6" name="Rounded Rectangle 5"/>
          <p:cNvSpPr/>
          <p:nvPr/>
        </p:nvSpPr>
        <p:spPr>
          <a:xfrm>
            <a:off x="6217920" y="1828800"/>
            <a:ext cx="5242255" cy="4389120"/>
          </a:xfrm>
          <a:prstGeom prst="roundRect">
            <a:avLst/>
          </a:prstGeom>
          <a:solidFill>
            <a:srgbClr val="1E1C18"/>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2011680"/>
            <a:ext cx="4876495" cy="4023360"/>
          </a:xfrm>
          <a:prstGeom prst="rect">
            <a:avLst/>
          </a:prstGeom>
          <a:noFill/>
        </p:spPr>
        <p:txBody>
          <a:bodyPr wrap="square">
            <a:spAutoFit/>
          </a:bodyPr>
          <a:lstStyle/>
          <a:p>
            <a:pPr>
              <a:defRPr sz="1200" b="1">
                <a:solidFill>
                  <a:srgbClr val="4FB37E"/>
                </a:solidFill>
                <a:latin typeface="Consolas"/>
              </a:defRPr>
            </a:pPr>
            <a:r>
              <a:t>ENTERPRISE SCALE STORY (ARCHITECTURE §8)</a:t>
            </a:r>
          </a:p>
          <a:p>
            <a:pPr>
              <a:spcBef>
                <a:spcPts val="600"/>
              </a:spcBef>
              <a:defRPr sz="2000" b="1">
                <a:solidFill>
                  <a:srgbClr val="EDE6D6"/>
                </a:solidFill>
                <a:latin typeface="Georgia"/>
              </a:defRPr>
            </a:pPr>
            <a:r>
              <a:t>Path to Millions of Memories</a:t>
            </a:r>
          </a:p>
          <a:p>
            <a:pPr>
              <a:spcBef>
                <a:spcPts val="1000"/>
              </a:spcBef>
              <a:defRPr sz="1250">
                <a:solidFill>
                  <a:srgbClr val="B8B1A2"/>
                </a:solidFill>
                <a:latin typeface="Segoe UI"/>
              </a:defRPr>
            </a:pPr>
            <a:r>
              <a:t>• Sharding on ownerId: Every query scopes by ownerId. Hashed sharding ensures 100% of memory queries target a single shard.</a:t>
            </a:r>
          </a:p>
          <a:p>
            <a:pPr>
              <a:spcBef>
                <a:spcPts val="1000"/>
              </a:spcBef>
              <a:defRPr sz="1250">
                <a:solidFill>
                  <a:srgbClr val="B8B1A2"/>
                </a:solidFill>
                <a:latin typeface="Segoe UI"/>
              </a:defRPr>
            </a:pPr>
            <a:r>
              <a:t>• Dedicated Search Nodes: Separates Vector Search and Atlas Search from operational database workloads for sub-50ms latency.</a:t>
            </a:r>
          </a:p>
          <a:p>
            <a:pPr>
              <a:spcBef>
                <a:spcPts val="1000"/>
              </a:spcBef>
              <a:defRPr sz="1250">
                <a:solidFill>
                  <a:srgbClr val="B8B1A2"/>
                </a:solidFill>
                <a:latin typeface="Segoe UI"/>
              </a:defRPr>
            </a:pPr>
            <a:r>
              <a:t>• Vector Quantization: Scalar / int8 quantization reduces vector RAM footprint by 75% without compromising recall.</a:t>
            </a:r>
          </a:p>
          <a:p>
            <a:pPr>
              <a:spcBef>
                <a:spcPts val="1000"/>
              </a:spcBef>
              <a:defRPr sz="1250">
                <a:solidFill>
                  <a:srgbClr val="B8B1A2"/>
                </a:solidFill>
                <a:latin typeface="Segoe UI"/>
              </a:defRPr>
            </a:pPr>
            <a:r>
              <a:t>• Automated Embeddings: Native Voyage AI automated embeddings directly within MongoDB Atlas pipelines.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0D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728655" cy="1097280"/>
          </a:xfrm>
          <a:prstGeom prst="rect">
            <a:avLst/>
          </a:prstGeom>
          <a:noFill/>
        </p:spPr>
        <p:txBody>
          <a:bodyPr wrap="square" lIns="0" tIns="0" rIns="0" bIns="0">
            <a:spAutoFit/>
          </a:bodyPr>
          <a:lstStyle/>
          <a:p>
            <a:pPr>
              <a:defRPr sz="1100" b="1">
                <a:solidFill>
                  <a:srgbClr val="F2C12E"/>
                </a:solidFill>
                <a:latin typeface="Consolas"/>
              </a:defRPr>
            </a:pPr>
            <a:r>
              <a:t>TEAM &amp; ARCHITECTURE</a:t>
            </a:r>
          </a:p>
          <a:p>
            <a:pPr>
              <a:spcBef>
                <a:spcPts val="400"/>
              </a:spcBef>
              <a:defRPr sz="2600" b="1">
                <a:solidFill>
                  <a:srgbClr val="EDE6D6"/>
                </a:solidFill>
                <a:latin typeface="Georgia"/>
              </a:defRPr>
            </a:pPr>
            <a:r>
              <a:t>Built in 24 Hours for UNCHARTED 2026 by Three Humans and Three Agents</a:t>
            </a:r>
          </a:p>
        </p:txBody>
      </p:sp>
      <p:sp>
        <p:nvSpPr>
          <p:cNvPr id="4" name="Rounded Rectangle 3"/>
          <p:cNvSpPr/>
          <p:nvPr/>
        </p:nvSpPr>
        <p:spPr>
          <a:xfrm>
            <a:off x="731520" y="1828800"/>
            <a:ext cx="5120640" cy="4389120"/>
          </a:xfrm>
          <a:prstGeom prst="roundRect">
            <a:avLst/>
          </a:prstGeom>
          <a:solidFill>
            <a:srgbClr val="161512"/>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754880" cy="4023360"/>
          </a:xfrm>
          <a:prstGeom prst="rect">
            <a:avLst/>
          </a:prstGeom>
          <a:noFill/>
        </p:spPr>
        <p:txBody>
          <a:bodyPr wrap="square">
            <a:spAutoFit/>
          </a:bodyPr>
          <a:lstStyle/>
          <a:p>
            <a:pPr>
              <a:defRPr sz="1200" b="1">
                <a:solidFill>
                  <a:srgbClr val="F2C12E"/>
                </a:solidFill>
                <a:latin typeface="Consolas"/>
              </a:defRPr>
            </a:pPr>
            <a:r>
              <a:t>THE HUMAN TEAM</a:t>
            </a:r>
          </a:p>
          <a:p>
            <a:pPr>
              <a:spcBef>
                <a:spcPts val="600"/>
              </a:spcBef>
              <a:defRPr sz="2000" b="1">
                <a:solidFill>
                  <a:srgbClr val="EDE6D6"/>
                </a:solidFill>
                <a:latin typeface="Georgia"/>
              </a:defRPr>
            </a:pPr>
            <a:r>
              <a:t>Product Leadership &amp; Testing</a:t>
            </a:r>
          </a:p>
          <a:p>
            <a:pPr>
              <a:spcBef>
                <a:spcPts val="1200"/>
              </a:spcBef>
              <a:defRPr sz="1300">
                <a:solidFill>
                  <a:srgbClr val="B8B1A2"/>
                </a:solidFill>
                <a:latin typeface="Segoe UI"/>
              </a:defRPr>
            </a:pPr>
            <a:r>
              <a:t>• Vaibhav: Product vision, demo persona design (Aarav), user testing &amp; judge path verification.</a:t>
            </a:r>
          </a:p>
          <a:p>
            <a:pPr>
              <a:spcBef>
                <a:spcPts val="1200"/>
              </a:spcBef>
              <a:defRPr sz="1300">
                <a:solidFill>
                  <a:srgbClr val="B8B1A2"/>
                </a:solidFill>
                <a:latin typeface="Segoe UI"/>
              </a:defRPr>
            </a:pPr>
            <a:r>
              <a:t>• Teammate 2: MongoDB schema design, vector indexing, query tuning, and privacy gate specifications.</a:t>
            </a:r>
          </a:p>
          <a:p>
            <a:pPr>
              <a:spcBef>
                <a:spcPts val="1200"/>
              </a:spcBef>
              <a:defRPr sz="1300">
                <a:solidFill>
                  <a:srgbClr val="B8B1A2"/>
                </a:solidFill>
                <a:latin typeface="Segoe UI"/>
              </a:defRPr>
            </a:pPr>
            <a:r>
              <a:t>• Teammate 3: Architecture leadership, integration oversight, presentation deck, and demo video script.</a:t>
            </a:r>
          </a:p>
        </p:txBody>
      </p:sp>
      <p:sp>
        <p:nvSpPr>
          <p:cNvPr id="6" name="Rounded Rectangle 5"/>
          <p:cNvSpPr/>
          <p:nvPr/>
        </p:nvSpPr>
        <p:spPr>
          <a:xfrm>
            <a:off x="6217920" y="1828800"/>
            <a:ext cx="5242255" cy="4389120"/>
          </a:xfrm>
          <a:prstGeom prst="roundRect">
            <a:avLst/>
          </a:prstGeom>
          <a:solidFill>
            <a:srgbClr val="1E1C18"/>
          </a:solidFill>
          <a:ln w="12700">
            <a:solidFill>
              <a:srgbClr val="2E2B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2011680"/>
            <a:ext cx="4876495" cy="4023360"/>
          </a:xfrm>
          <a:prstGeom prst="rect">
            <a:avLst/>
          </a:prstGeom>
          <a:noFill/>
        </p:spPr>
        <p:txBody>
          <a:bodyPr wrap="square">
            <a:spAutoFit/>
          </a:bodyPr>
          <a:lstStyle/>
          <a:p>
            <a:pPr>
              <a:defRPr sz="1200" b="1">
                <a:solidFill>
                  <a:srgbClr val="3A63D8"/>
                </a:solidFill>
                <a:latin typeface="Consolas"/>
              </a:defRPr>
            </a:pPr>
            <a:r>
              <a:t>THE CODING AGENT MATRIX</a:t>
            </a:r>
          </a:p>
          <a:p>
            <a:pPr>
              <a:spcBef>
                <a:spcPts val="600"/>
              </a:spcBef>
              <a:defRPr sz="2000" b="1">
                <a:solidFill>
                  <a:srgbClr val="EDE6D6"/>
                </a:solidFill>
                <a:latin typeface="Georgia"/>
              </a:defRPr>
            </a:pPr>
            <a:r>
              <a:t>Parallel Specialized Agent Execution</a:t>
            </a:r>
          </a:p>
          <a:p>
            <a:pPr>
              <a:spcBef>
                <a:spcPts val="1200"/>
              </a:spcBef>
              <a:defRPr sz="1300">
                <a:solidFill>
                  <a:srgbClr val="B8B1A2"/>
                </a:solidFill>
                <a:latin typeface="Segoe UI"/>
              </a:defRPr>
            </a:pPr>
            <a:r>
              <a:t>• Claude Code (Lead): Overall architecture, App Router pages, chat orchestrator, Better Auth, and git merge integration.</a:t>
            </a:r>
          </a:p>
          <a:p>
            <a:pPr>
              <a:spcBef>
                <a:spcPts val="1200"/>
              </a:spcBef>
              <a:defRPr sz="1300">
                <a:solidFill>
                  <a:srgbClr val="B8B1A2"/>
                </a:solidFill>
                <a:latin typeface="Segoe UI"/>
              </a:defRPr>
            </a:pPr>
            <a:r>
              <a:t>• Codex (Engine): Memory engine, privacy gate, 4-channel recall, scoring algorithm, reflection pipelines, and eval harness.</a:t>
            </a:r>
          </a:p>
          <a:p>
            <a:pPr>
              <a:spcBef>
                <a:spcPts val="1200"/>
              </a:spcBef>
              <a:defRPr sz="1300">
                <a:solidFill>
                  <a:srgbClr val="B8B1A2"/>
                </a:solidFill>
                <a:latin typeface="Segoe UI"/>
              </a:defRPr>
            </a:pPr>
            <a:r>
              <a:t>• Antigravity (Experience): Public landing page, real screenshots showcase, Review/Activity/Settings polish, presentation deck, demo video kit.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