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2C12E"/>
                </a:solidFill>
                <a:latin typeface="Consolas"/>
              </a:defRPr>
            </a:pPr>
            <a:r>
              <a:t>UNCHARTED 2026 · MONGODB STUDENT HACKATHON · TRACK 1: AGENTIC MEMORY</a:t>
            </a:r>
          </a:p>
          <a:p>
            <a:pPr>
              <a:spcBef>
                <a:spcPts val="1000"/>
              </a:spcBef>
              <a:defRPr sz="5600" b="1">
                <a:solidFill>
                  <a:srgbClr val="EDE6D6"/>
                </a:solidFill>
                <a:latin typeface="Georgia"/>
              </a:defRPr>
            </a:pPr>
            <a:r>
              <a:t>Radahn</a:t>
            </a:r>
          </a:p>
          <a:p>
            <a:pPr>
              <a:spcBef>
                <a:spcPts val="800"/>
              </a:spcBef>
              <a:defRPr sz="2200" i="1">
                <a:solidFill>
                  <a:srgbClr val="B8B1A2"/>
                </a:solidFill>
                <a:latin typeface="Georgia"/>
              </a:defRPr>
            </a:pPr>
            <a:r>
              <a:t>A personal AI agent whose memory you can see, steer, and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300">
                <a:solidFill>
                  <a:srgbClr val="4FB37E"/>
                </a:solidFill>
                <a:latin typeface="Consolas"/>
              </a:defRPr>
            </a:pPr>
            <a:r>
              <a:t>LIVE DEPLOYMENT: https://radahn-ai.vercel.app  (Zero-auth Guest mode ready for testing)</a:t>
            </a:r>
          </a:p>
          <a:p>
            <a:pPr>
              <a:spcBef>
                <a:spcPts val="800"/>
              </a:spcBef>
              <a:defRPr sz="1300">
                <a:solidFill>
                  <a:srgbClr val="B8B1A2"/>
                </a:solidFill>
                <a:latin typeface="Consolas"/>
              </a:defRPr>
            </a:pPr>
            <a:r>
              <a:t>PUBLIC REPOSITORY: https://github.com/vaibhavcodesx/radahn</a:t>
            </a:r>
          </a:p>
          <a:p>
            <a:pPr>
              <a:spcBef>
                <a:spcPts val="800"/>
              </a:spcBef>
              <a:defRPr sz="1300">
                <a:solidFill>
                  <a:srgbClr val="8A8477"/>
                </a:solidFill>
                <a:latin typeface="Consolas"/>
              </a:defRPr>
            </a:pPr>
            <a:r>
              <a:t>TECH STACK: Next.js 16 + Tailwind v4 + MongoDB Atlas + Gemini 3.5/3.6 + Groq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01 / THE PROBLEM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Most assistants forget you between tabs. The rest remember you in secret.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13455" cy="4114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E2553A"/>
                </a:solidFill>
                <a:latin typeface="Georgia"/>
              </a:defRPr>
            </a:pPr>
            <a:r>
              <a:t>Amnesia by Default</a:t>
            </a:r>
          </a:p>
          <a:p>
            <a:pPr>
              <a:spcBef>
                <a:spcPts val="1400"/>
              </a:spcBef>
              <a:defRPr sz="1300">
                <a:solidFill>
                  <a:srgbClr val="B8B1A2"/>
                </a:solidFill>
                <a:latin typeface="Segoe UI"/>
              </a:defRPr>
            </a:pPr>
            <a:r>
              <a:t>Standard AI chats start from scratch every conversation. Users repeat their preferences, stack constraints, and deadlines endlessly. Context windows are temporary.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413455" cy="4114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08A24"/>
                </a:solidFill>
                <a:latin typeface="Georgia"/>
              </a:defRPr>
            </a:pPr>
            <a:r>
              <a:t>The Black Box of Memory</a:t>
            </a:r>
          </a:p>
          <a:p>
            <a:pPr>
              <a:spcBef>
                <a:spcPts val="1400"/>
              </a:spcBef>
              <a:defRPr sz="1300">
                <a:solidFill>
                  <a:srgbClr val="B8B1A2"/>
                </a:solidFill>
                <a:latin typeface="Segoe UI"/>
              </a:defRPr>
            </a:pPr>
            <a:r>
              <a:t>When memory is bolted onto agents, it happens invisibly in prompt caches. Users cannot see what was stored, cannot inspect why an answer changed, and cannot remove stale assumptions.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413455" cy="4114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2C12E"/>
                </a:solidFill>
                <a:latin typeface="Georgia"/>
              </a:defRPr>
            </a:pPr>
            <a:r>
              <a:t>The Missing Contract</a:t>
            </a:r>
          </a:p>
          <a:p>
            <a:pPr>
              <a:spcBef>
                <a:spcPts val="1400"/>
              </a:spcBef>
              <a:defRPr sz="1300">
                <a:solidFill>
                  <a:srgbClr val="B8B1A2"/>
                </a:solidFill>
                <a:latin typeface="Segoe UI"/>
              </a:defRPr>
            </a:pPr>
            <a:r>
              <a:t>Production-grade agentic memory requires transparency: visible inline citations, inspectable recall scores, and total user steerability (correct, expire, forget).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02 / THE SOLUTION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An agent with visible, steerable long-term memory on MongoDB Atlas.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C12E"/>
                </a:solidFill>
                <a:latin typeface="Georgia"/>
              </a:defRPr>
            </a:pPr>
            <a:r>
              <a:t>Visible Citations</a:t>
            </a:r>
          </a:p>
          <a:p>
            <a:pPr>
              <a:spcBef>
                <a:spcPts val="4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Every reply cites exact memories that shaped it. Click citations to inspect underlying units and multi-channel score breakdowns.</a:t>
            </a:r>
          </a:p>
          <a:p>
            <a:pPr>
              <a:spcBef>
                <a:spcPts val="1600"/>
              </a:spcBef>
              <a:defRPr sz="1600" b="1">
                <a:solidFill>
                  <a:srgbClr val="4FB37E"/>
                </a:solidFill>
                <a:latin typeface="Georgia"/>
              </a:defRPr>
            </a:pPr>
            <a:r>
              <a:t>Complete Steerability</a:t>
            </a:r>
          </a:p>
          <a:p>
            <a:pPr>
              <a:spcBef>
                <a:spcPts val="4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Review held items, correct facts with automatic superseding history, set minute-level TTL expiry, or permanently forget on command.</a:t>
            </a:r>
          </a:p>
          <a:p>
            <a:pPr>
              <a:spcBef>
                <a:spcPts val="1600"/>
              </a:spcBef>
              <a:defRPr sz="1600" b="1">
                <a:solidFill>
                  <a:srgbClr val="EDE6D6"/>
                </a:solidFill>
                <a:latin typeface="Georgia"/>
              </a:defRPr>
            </a:pPr>
            <a:r>
              <a:t>Database-Enforced Truth</a:t>
            </a:r>
          </a:p>
          <a:p>
            <a:pPr>
              <a:spcBef>
                <a:spcPts val="4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Atlas unique indexes guarantee single source of truth; pre-scan gates intercept secrets before storage; zero hallucinated recall.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03 / DEMO RUN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Tested live with Aarav Mehta — building Kestrel with two friends.</a:t>
            </a:r>
          </a:p>
          <a:p>
            <a:pPr>
              <a:spcBef>
                <a:spcPts val="300"/>
              </a:spcBef>
              <a:defRPr sz="1300">
                <a:solidFill>
                  <a:srgbClr val="8A8477"/>
                </a:solidFill>
                <a:latin typeface="Segoe UI"/>
              </a:defRPr>
            </a:pPr>
            <a:r>
              <a:t>The four-beat evaluation path tested seamlessly on production.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2C12E"/>
                </a:solidFill>
                <a:latin typeface="Georgia"/>
              </a:defRPr>
            </a:pPr>
            <a:r>
              <a:t>Beat 1: Instant Entry &amp; Demo Seeding</a:t>
            </a:r>
          </a:p>
          <a:p>
            <a:pPr>
              <a:spcBef>
                <a:spcPts val="8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Enter as guest -&gt; Load demo memories. Seeds 38 typed memories across Kestrel, Personal, and Internships spaces with 768-d vector embeddings.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5120640" cy="19202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4FB37E"/>
                </a:solidFill>
                <a:latin typeface="Georgia"/>
              </a:defRPr>
            </a:pPr>
            <a:r>
              <a:t>Beat 2: Recall &amp; The Ghost Diff</a:t>
            </a:r>
          </a:p>
          <a:p>
            <a:pPr>
              <a:spcBef>
                <a:spcPts val="8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Prompt: 'What is our launch plan for Kestrel?' Radahn cites Kestrel's 7 Nov 9 PM IST beta constraint, Aarav's 5-bullet preference, and 500 pilots goal. 'Without memory' shows live word-level diff.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08A24"/>
                </a:solidFill>
                <a:latin typeface="Georgia"/>
              </a:defRPr>
            </a:pPr>
            <a:r>
              <a:t>Beat 3: Hard Cases Handled Live</a:t>
            </a:r>
          </a:p>
          <a:p>
            <a:pPr>
              <a:spcBef>
                <a:spcPts val="8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Correction: 'Actually, the beta launch moved to 10 PM.' (Superseded with history chain). Sensitive memory held in Review. Credentials blocked by privacy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06240"/>
            <a:ext cx="5120640" cy="19202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EDE6D6"/>
                </a:solidFill>
                <a:latin typeface="Georgia"/>
              </a:defRPr>
            </a:pPr>
            <a:r>
              <a:t>Beat 4: Atlas &amp; Realtime Reflection</a:t>
            </a:r>
          </a:p>
          <a:p>
            <a:pPr>
              <a:spcBef>
                <a:spcPts val="8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Explore memories in Atlas with 'As of' time travel. Watch live SSE change stream events in Activity, and trigger 'Reflect now' to consolidate feedback into strategies.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04 / ARCHITECTURE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Atomic extraction, deterministic privacy gates, and transactional reconcile.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E2553A"/>
                </a:solidFill>
                <a:latin typeface="Georgia"/>
              </a:defRPr>
            </a:pPr>
            <a:r>
              <a:t>1. Stream &amp; Gate</a:t>
            </a:r>
          </a:p>
          <a:p>
            <a:pPr>
              <a:spcBef>
                <a:spcPts val="3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User turn streams from client. Deterministic regex &amp; Shannon entropy pre-scan gate blocks keys/passwords before LLM or DB ingestion.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0728655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F08A24"/>
                </a:solidFill>
                <a:latin typeface="Georgia"/>
              </a:defRPr>
            </a:pPr>
            <a:r>
              <a:t>2. Atomic Extraction</a:t>
            </a:r>
          </a:p>
          <a:p>
            <a:pPr>
              <a:spcBef>
                <a:spcPts val="3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Gemini 3.5 Flash-Lite extracts atomic candidate statements with typed Whitney block metadata (kind, space, confidence, slot).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728655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F2C12E"/>
                </a:solidFill>
                <a:latin typeface="Georgia"/>
              </a:defRPr>
            </a:pPr>
            <a:r>
              <a:t>3. Reconcile Engine</a:t>
            </a:r>
          </a:p>
          <a:p>
            <a:pPr>
              <a:spcBef>
                <a:spcPts val="3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ADD (new fact) · CONFIRM (log boost) · SUPERSEDE (points old to new) · SKIP (deduplicates). Sensitive facts held for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728655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4FB37E"/>
                </a:solidFill>
                <a:latin typeface="Georgia"/>
              </a:defRPr>
            </a:pPr>
            <a:r>
              <a:t>4. Atlas Transaction</a:t>
            </a:r>
          </a:p>
          <a:p>
            <a:pPr>
              <a:spcBef>
                <a:spcPts val="3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Multi-document ACID transaction writes to `memories` and emits to `memory_events`. MongoDB Change Streams notify UI via 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05 / RECALL ENGINE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Four parallel channels fused by rank, re-scored transparently, budgeted to 8.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F2C12E"/>
                </a:solidFill>
                <a:latin typeface="Georgia"/>
              </a:defRPr>
            </a:pPr>
            <a:r>
              <a:t>Four Parallel Recall Channels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1. Atlas Vector Search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768-d cosine vector search (gemini-embedding-2), pre-filtered by ownerId, spaceKey, and active status.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2. Atlas Search (Lexical)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Full-text Lucene search for exact keywords, acronyms, and codes ('Next.js', 'Vercel', 'Kestrel').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3. Temporal Recency Window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Recency decay calibrated to memory type half-life and explicit time queries.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4. Linked Entities Graph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Graph-lite entity linking across shared subjects and referenced items.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4FB37E"/>
                </a:solidFill>
                <a:latin typeface="Georgia"/>
              </a:defRPr>
            </a:pPr>
            <a:r>
              <a:t>Scoring Formula &amp; Budgeting</a:t>
            </a:r>
          </a:p>
          <a:p>
            <a:pPr>
              <a:spcBef>
                <a:spcPts val="1000"/>
              </a:spcBef>
              <a:defRPr sz="1100">
                <a:solidFill>
                  <a:srgbClr val="F2C12E"/>
                </a:solidFill>
                <a:latin typeface="Consolas"/>
              </a:defRPr>
            </a:pPr>
            <a:r>
              <a:t>final = 0.55 * relevance(RRF) + 0.15 * recency + 0.15 * importance + 0.10 * confidence + type_boost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Reciprocal Rank Fusion (RRF)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Fuses rank positions across all 4 channels without scale bias.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MMR Re-Ranking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Maximal Marginal Relevance (lambda = 0.7) eliminates near-duplicate candidates.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Strict Budgeting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Threshold at 0.35; capped at top 8 memories injected into system prompt.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Complete Audit Trace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Every candidate score, channel contribution, and decision saved to DB for inspection.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06 / RELIABILITY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Enforced with database guarantees rather than prompt suggestions.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82296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EDE6D6"/>
                </a:solidFill>
                <a:latin typeface="Segoe UI"/>
              </a:defRPr>
            </a:pPr>
            <a:r>
              <a:t>CORRECTION:  Beta launch moved to 10 PM. Reconcile engine marks old record outdated, writes active replacement.</a:t>
            </a:r>
          </a:p>
          <a:p>
            <a:pPr>
              <a:spcBef>
                <a:spcPts val="200"/>
              </a:spcBef>
              <a:defRPr sz="1100">
                <a:solidFill>
                  <a:srgbClr val="F2C12E"/>
                </a:solidFill>
                <a:latin typeface="Consolas"/>
              </a:defRPr>
            </a:pPr>
            <a:r>
              <a:t>MongoDB Enforcer: Partial unique index {ownerId, spaceKey, slotKey} active. Guaranteed single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8655" cy="82296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EDE6D6"/>
                </a:solidFill>
                <a:latin typeface="Segoe UI"/>
              </a:defRPr>
            </a:pPr>
            <a:r>
              <a:t>EXPIRY:  Remind me before Monday. Stops recalling past expiresAt, purged by background cleaner.</a:t>
            </a:r>
          </a:p>
          <a:p>
            <a:pPr>
              <a:spcBef>
                <a:spcPts val="200"/>
              </a:spcBef>
              <a:defRPr sz="1100">
                <a:solidFill>
                  <a:srgbClr val="F2C12E"/>
                </a:solidFill>
                <a:latin typeface="Consolas"/>
              </a:defRPr>
            </a:pPr>
            <a:r>
              <a:t>MongoDB Enforcer: TTL index on purgeAt. Automatic physical cleanup without custom cron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728655" cy="82296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EDE6D6"/>
                </a:solidFill>
                <a:latin typeface="Segoe UI"/>
              </a:defRPr>
            </a:pPr>
            <a:r>
              <a:t>FORGET:  Forget my dietary preferences. Hard delete of statement and vector embedding.</a:t>
            </a:r>
          </a:p>
          <a:p>
            <a:pPr>
              <a:spcBef>
                <a:spcPts val="200"/>
              </a:spcBef>
              <a:defRPr sz="1100">
                <a:solidFill>
                  <a:srgbClr val="F2C12E"/>
                </a:solidFill>
                <a:latin typeface="Consolas"/>
              </a:defRPr>
            </a:pPr>
            <a:r>
              <a:t>MongoDB Enforcer: deleteOne on memories collection + content-free audit tombstone in memory_events.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28655" cy="82296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EDE6D6"/>
                </a:solidFill>
                <a:latin typeface="Segoe UI"/>
              </a:defRPr>
            </a:pPr>
            <a:r>
              <a:t>CONTRADICTIONS:  Disagreeing statements detected during ingestion. Review page presents options side by side.</a:t>
            </a:r>
          </a:p>
          <a:p>
            <a:pPr>
              <a:spcBef>
                <a:spcPts val="200"/>
              </a:spcBef>
              <a:defRPr sz="1100">
                <a:solidFill>
                  <a:srgbClr val="F2C12E"/>
                </a:solidFill>
                <a:latin typeface="Consolas"/>
              </a:defRPr>
            </a:pPr>
            <a:r>
              <a:t>MongoDB Enforcer: Recommendation Card UI lets user pick winning memory; winner supersedes loser.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EDE6D6"/>
                </a:solidFill>
                <a:latin typeface="Segoe UI"/>
              </a:defRPr>
            </a:pPr>
            <a:r>
              <a:t>PRIVACY INTERCEPT:  Catches simulated API keys, passwords, OTPs before LLM or DB ingestion.</a:t>
            </a:r>
          </a:p>
          <a:p>
            <a:pPr>
              <a:spcBef>
                <a:spcPts val="200"/>
              </a:spcBef>
              <a:defRPr sz="1100">
                <a:solidFill>
                  <a:srgbClr val="F2C12E"/>
                </a:solidFill>
                <a:latin typeface="Consolas"/>
              </a:defRPr>
            </a:pPr>
            <a:r>
              <a:t>MongoDB Enforcer: Regex and Shannon entropy pre-scan gate; sensitive items routed to Review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07 / LEARNING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Turning conversation history into learned agent behaviours.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F2C12E"/>
                </a:solidFill>
                <a:latin typeface="Georgia"/>
              </a:defRPr>
            </a:pPr>
            <a:r>
              <a:t>Reflection Pipeline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1. Gather Unreflected Feedback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Collects raw feedback, corrections, and explicit preferences since last checkpoint.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2. Topic Clustering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Groups observations by task domain (e.g. planning, formatting, coding).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3. Synthesis &amp; Consolidation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Synthesizes recurring guidance into generalized behavioural rules.</a:t>
            </a:r>
          </a:p>
          <a:p>
            <a:pPr>
              <a:spcBef>
                <a:spcPts val="8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4. Write Learned Strategies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Stores high-level strategies in memories with vector embeddings.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4FB37E"/>
                </a:solidFill>
                <a:latin typeface="Georgia"/>
              </a:defRPr>
            </a:pPr>
            <a:r>
              <a:t>Learned Strategy in Production</a:t>
            </a:r>
          </a:p>
          <a:p>
            <a:pPr>
              <a:spcBef>
                <a:spcPts val="12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Observed User Feedback</a:t>
            </a:r>
          </a:p>
          <a:p>
            <a:pPr>
              <a:defRPr sz="1200">
                <a:solidFill>
                  <a:srgbClr val="B8B1A2"/>
                </a:solidFill>
                <a:latin typeface="Segoe UI"/>
              </a:defRPr>
            </a:pPr>
            <a:r>
              <a:t>User repeatedly asks: 'keep it concise', 'bullet points only', 'shorter plans'.</a:t>
            </a:r>
          </a:p>
          <a:p>
            <a:pPr>
              <a:spcBef>
                <a:spcPts val="12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Synthesized Strategy</a:t>
            </a:r>
          </a:p>
          <a:p>
            <a:pPr>
              <a:defRPr sz="1200">
                <a:solidFill>
                  <a:srgbClr val="F2C12E"/>
                </a:solidFill>
                <a:latin typeface="Segoe UI"/>
              </a:defRPr>
            </a:pPr>
            <a:r>
              <a:t>"When Aarav asks for a plan, give at most 5 bullets, each with a time box."</a:t>
            </a:r>
          </a:p>
          <a:p>
            <a:pPr>
              <a:spcBef>
                <a:spcPts val="12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Live Agent Adaptation</a:t>
            </a:r>
          </a:p>
          <a:p>
            <a:pPr>
              <a:defRPr sz="1200">
                <a:solidFill>
                  <a:srgbClr val="B8B1A2"/>
                </a:solidFill>
                <a:latin typeface="Segoe UI"/>
              </a:defRPr>
            </a:pPr>
            <a:r>
              <a:t>Automatically recalled in future planning queries. Directly governs the Kestrel launch roadmap without prompting.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08 / MONGODB STACK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Eight native MongoDB Atlas capabilities powering a zero-infrastructure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Document Model &amp; $jsonSchema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Typed memories, confidence scores, and lifecycle states in a strictly validated schema.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Atlas Vector Search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768-d vector index with pre-filters on ownerId, spaceKey, status, and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Atlas Search (Lucene)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Full-text lexical search capturing exact tokens that vector embeddings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971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TTL Indexes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Automatic physical expiration on purgeAt without custom cron jobs.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Partial Unique Index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{ownerId, spaceKey, slotKey} active guarantees one source of truth under concurrent writes.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Multi-Document Transactions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Atomic updates across memories and memory_events ensure zero corrupted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Change Streams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Watches memory_events to stream real-time SSE to browser write chips and Activity feed.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257800"/>
            <a:ext cx="5120640" cy="100584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2C12E"/>
                </a:solidFill>
                <a:latin typeface="Georgia"/>
              </a:defRPr>
            </a:pPr>
            <a:r>
              <a:t>Aggregation Pipelines</a:t>
            </a:r>
          </a:p>
          <a:p>
            <a:pPr>
              <a:spcBef>
                <a:spcPts val="200"/>
              </a:spcBef>
              <a:defRPr sz="1100">
                <a:solidFill>
                  <a:srgbClr val="B8B1A2"/>
                </a:solidFill>
                <a:latin typeface="Segoe UI"/>
              </a:defRPr>
            </a:pPr>
            <a:r>
              <a:t>Real-time analytics for memory distribution, recall hit rates, and weekly corrections.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09 / BENCHMARKS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Hosted production verification on MongoDB Atlas M0 + Gemini / Groq.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29000" cy="1828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800" b="1">
                <a:solidFill>
                  <a:srgbClr val="4FB37E"/>
                </a:solidFill>
                <a:latin typeface="Georgia"/>
              </a:defRPr>
            </a:pPr>
            <a:r>
              <a:t>20 / 20</a:t>
            </a:r>
          </a:p>
          <a:p>
            <a:pPr>
              <a:spcBef>
                <a:spcPts val="4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Live Test Cases Passed</a:t>
            </a:r>
          </a:p>
          <a:p>
            <a:pPr>
              <a:spcBef>
                <a:spcPts val="200"/>
              </a:spcBef>
              <a:defRPr sz="1100">
                <a:solidFill>
                  <a:srgbClr val="8A8477"/>
                </a:solidFill>
                <a:latin typeface="Segoe UI"/>
              </a:defRPr>
            </a:pPr>
            <a:r>
              <a:t>100% pass across write-add, correction chains, cold-index recall, explicit forget.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011680"/>
            <a:ext cx="3429000" cy="1828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800" b="1">
                <a:solidFill>
                  <a:srgbClr val="4FB37E"/>
                </a:solidFill>
                <a:latin typeface="Georgia"/>
              </a:defRPr>
            </a:pPr>
            <a:r>
              <a:t>31 / 31</a:t>
            </a:r>
          </a:p>
          <a:p>
            <a:pPr>
              <a:spcBef>
                <a:spcPts val="4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Deterministic Checks</a:t>
            </a:r>
          </a:p>
          <a:p>
            <a:pPr>
              <a:spcBef>
                <a:spcPts val="200"/>
              </a:spcBef>
              <a:defRPr sz="1100">
                <a:solidFill>
                  <a:srgbClr val="8A8477"/>
                </a:solidFill>
                <a:latin typeface="Segoe UI"/>
              </a:defRPr>
            </a:pPr>
            <a:r>
              <a:t>100% pass for privacy gate, prompt injection resistance, reconcile ops, TTL grace.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011680"/>
            <a:ext cx="3429000" cy="1828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800" b="1">
                <a:solidFill>
                  <a:srgbClr val="4FB37E"/>
                </a:solidFill>
                <a:latin typeface="Georgia"/>
              </a:defRPr>
            </a:pPr>
            <a:r>
              <a:t>0</a:t>
            </a:r>
          </a:p>
          <a:p>
            <a:pPr>
              <a:spcBef>
                <a:spcPts val="4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Secrets Stored</a:t>
            </a:r>
          </a:p>
          <a:p>
            <a:pPr>
              <a:spcBef>
                <a:spcPts val="200"/>
              </a:spcBef>
              <a:defRPr sz="1100">
                <a:solidFill>
                  <a:srgbClr val="8A8477"/>
                </a:solidFill>
                <a:latin typeface="Segoe UI"/>
              </a:defRPr>
            </a:pPr>
            <a:r>
              <a:t>100% interception of simulated API keys, credentials, tokens, and sensitive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429000" cy="1828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800" b="1">
                <a:solidFill>
                  <a:srgbClr val="4FB37E"/>
                </a:solidFill>
                <a:latin typeface="Georgia"/>
              </a:defRPr>
            </a:pPr>
            <a:r>
              <a:t>1.0</a:t>
            </a:r>
          </a:p>
          <a:p>
            <a:pPr>
              <a:spcBef>
                <a:spcPts val="4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Recall@5 Precision</a:t>
            </a:r>
          </a:p>
          <a:p>
            <a:pPr>
              <a:spcBef>
                <a:spcPts val="200"/>
              </a:spcBef>
              <a:defRPr sz="1100">
                <a:solidFill>
                  <a:srgbClr val="8A8477"/>
                </a:solidFill>
                <a:latin typeface="Segoe UI"/>
              </a:defRPr>
            </a:pPr>
            <a:r>
              <a:t>Top 5 retrieved candidates captured 100% of ground-truth test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114800"/>
            <a:ext cx="3429000" cy="1828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800" b="1">
                <a:solidFill>
                  <a:srgbClr val="4FB37E"/>
                </a:solidFill>
                <a:latin typeface="Georgia"/>
              </a:defRPr>
            </a:pPr>
            <a:r>
              <a:t>566 ms</a:t>
            </a:r>
          </a:p>
          <a:p>
            <a:pPr>
              <a:spcBef>
                <a:spcPts val="4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Recall Latency (p50)</a:t>
            </a:r>
          </a:p>
          <a:p>
            <a:pPr>
              <a:spcBef>
                <a:spcPts val="200"/>
              </a:spcBef>
              <a:defRPr sz="1100">
                <a:solidFill>
                  <a:srgbClr val="8A8477"/>
                </a:solidFill>
                <a:latin typeface="Segoe UI"/>
              </a:defRPr>
            </a:pPr>
            <a:r>
              <a:t>Cold-path recall including query vector embedding and multi-channel rank fusion.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114800"/>
            <a:ext cx="3429000" cy="182880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800" b="1">
                <a:solidFill>
                  <a:srgbClr val="4FB37E"/>
                </a:solidFill>
                <a:latin typeface="Georgia"/>
              </a:defRPr>
            </a:pPr>
            <a:r>
              <a:t>1.96 s</a:t>
            </a:r>
          </a:p>
          <a:p>
            <a:pPr>
              <a:spcBef>
                <a:spcPts val="4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First Memory Write (p50)</a:t>
            </a:r>
          </a:p>
          <a:p>
            <a:pPr>
              <a:spcBef>
                <a:spcPts val="200"/>
              </a:spcBef>
              <a:defRPr sz="1100">
                <a:solidFill>
                  <a:srgbClr val="8A8477"/>
                </a:solidFill>
                <a:latin typeface="Segoe UI"/>
              </a:defRPr>
            </a:pPr>
            <a:r>
              <a:t>From completion of chat stream to committed event in MongoDB change stream.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10 / ROADMAP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Honest evaluation today and clear enterprise architecture tomorrow.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F08A24"/>
                </a:solidFill>
                <a:latin typeface="Georgia"/>
              </a:defRPr>
            </a:pPr>
            <a:r>
              <a:t>Current Limitations (Free Tier)</a:t>
            </a:r>
          </a:p>
          <a:p>
            <a:pPr>
              <a:spcBef>
                <a:spcPts val="10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Quota Boundaries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Gemini free tier has rate limits. Mitigated with resilient multi-model hedging (3.6 Flash -&gt; Groq GPT-OSS 120B -&gt; 3.5 Flash-Lite).</a:t>
            </a:r>
          </a:p>
          <a:p>
            <a:pPr>
              <a:spcBef>
                <a:spcPts val="10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Probabilistic Extraction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LLMs can miss subtle nuances; mitigated by making every memory visible, editable, and reversible in the UI.</a:t>
            </a:r>
          </a:p>
          <a:p>
            <a:pPr>
              <a:spcBef>
                <a:spcPts val="10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Guest Lifetime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Anonymous demo sessions expire in 7 days unless linked to a Google account.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4FB37E"/>
                </a:solidFill>
                <a:latin typeface="Georgia"/>
              </a:defRPr>
            </a:pPr>
            <a:r>
              <a:t>Enterprise Scale Architecture</a:t>
            </a:r>
          </a:p>
          <a:p>
            <a:pPr>
              <a:spcBef>
                <a:spcPts val="10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Horizontal Sharding on ownerId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Because every query is strictly scoped by ownerId, 100% of user queries target a single shard without cross-node fanout.</a:t>
            </a:r>
          </a:p>
          <a:p>
            <a:pPr>
              <a:spcBef>
                <a:spcPts val="10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Dedicated Search Nodes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Separates vector and full-text indexing from core transactional nodes for sub-50ms latency under high load.</a:t>
            </a:r>
          </a:p>
          <a:p>
            <a:pPr>
              <a:spcBef>
                <a:spcPts val="1000"/>
              </a:spcBef>
              <a:defRPr sz="1300" b="1">
                <a:solidFill>
                  <a:srgbClr val="EDE6D6"/>
                </a:solidFill>
                <a:latin typeface="Segoe UI"/>
              </a:defRPr>
            </a:pPr>
            <a:r>
              <a:t>Vector Quantization</a:t>
            </a:r>
          </a:p>
          <a:p>
            <a:pPr>
              <a:defRPr sz="1100">
                <a:solidFill>
                  <a:srgbClr val="B8B1A2"/>
                </a:solidFill>
                <a:latin typeface="Segoe UI"/>
              </a:defRPr>
            </a:pPr>
            <a:r>
              <a:t>Scalar/int8 quantization reduces index RAM by 75%, scaling to millions of memories per cluster.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12E"/>
                </a:solidFill>
                <a:latin typeface="Consolas"/>
              </a:defRPr>
            </a:pPr>
            <a:r>
              <a:t>11 / TEAM &amp; AGENTS</a:t>
            </a:r>
          </a:p>
          <a:p>
            <a:pPr>
              <a:spcBef>
                <a:spcPts val="400"/>
              </a:spcBef>
              <a:defRPr sz="2600" b="1">
                <a:solidFill>
                  <a:srgbClr val="EDE6D6"/>
                </a:solidFill>
                <a:latin typeface="Georgia"/>
              </a:defRPr>
            </a:pPr>
            <a:r>
              <a:t>Built in 24 hours for UNCHARTED 2026 by three humans and three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61512"/>
          </a:solidFill>
          <a:ln>
            <a:solidFill>
              <a:srgbClr val="2E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F2C12E"/>
                </a:solidFill>
                <a:latin typeface="Georgia"/>
              </a:defRPr>
            </a:pPr>
            <a:r>
              <a:t>HUMAN BUILDERS: Vaibhav &amp; Teammates</a:t>
            </a:r>
          </a:p>
          <a:p>
            <a:pPr>
              <a:spcBef>
                <a:spcPts val="400"/>
              </a:spcBef>
              <a:defRPr sz="1300">
                <a:solidFill>
                  <a:srgbClr val="B8B1A2"/>
                </a:solidFill>
                <a:latin typeface="Segoe UI"/>
              </a:defRPr>
            </a:pPr>
            <a:r>
              <a:t>Product direction, MongoDB schema design, eval benchmark harness, and end-to-end judge validation.</a:t>
            </a:r>
          </a:p>
          <a:p>
            <a:pPr>
              <a:spcBef>
                <a:spcPts val="1600"/>
              </a:spcBef>
              <a:defRPr sz="1300" b="1">
                <a:solidFill>
                  <a:srgbClr val="EDE6D6"/>
                </a:solidFill>
                <a:latin typeface="Consolas"/>
              </a:defRPr>
            </a:pPr>
            <a:r>
              <a:t>THREE-AGENT PAIR PROGRAMMING COLLABORATION:</a:t>
            </a:r>
          </a:p>
          <a:p>
            <a:pPr>
              <a:spcBef>
                <a:spcPts val="6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Claude Code (Lead):  App Router architecture, chat orchestration, Better Auth, and integration merges.</a:t>
            </a:r>
          </a:p>
          <a:p>
            <a:pPr>
              <a:spcBef>
                <a:spcPts val="6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Codex (Engine):  Memory engine, privacy gate, 4-channel recall, scoring algorithm, reflection pipelines, and eval harness.</a:t>
            </a:r>
          </a:p>
          <a:p>
            <a:pPr>
              <a:spcBef>
                <a:spcPts val="600"/>
              </a:spcBef>
              <a:defRPr sz="1200">
                <a:solidFill>
                  <a:srgbClr val="B8B1A2"/>
                </a:solidFill>
                <a:latin typeface="Segoe UI"/>
              </a:defRPr>
            </a:pPr>
            <a:r>
              <a:t>Antigravity (Experience):  Public landing page, real production screenshots, Review/Activity/Settings polish, presentation deck, and demo video kit.</a:t>
            </a:r>
          </a:p>
          <a:p>
            <a:pPr>
              <a:spcBef>
                <a:spcPts val="1600"/>
              </a:spcBef>
              <a:defRPr sz="1200">
                <a:solidFill>
                  <a:srgbClr val="4FB37E"/>
                </a:solidFill>
                <a:latin typeface="Consolas"/>
              </a:defRPr>
            </a:pPr>
            <a:r>
              <a:t>LIVE PRODUCT: https://radahn-ai.vercel.app  ·  REPO: https://github.com/vaibhavcodesx/radahn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